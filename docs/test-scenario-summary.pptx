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18288"/>
            <a:ext cx="347472" cy="347472"/>
          </a:xfrm>
          <a:prstGeom prst="ellipse">
            <a:avLst/>
          </a:prstGeom>
          <a:solidFill>
            <a:srgbClr val="B9E1F5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9920000">
            <a:off x="822960" y="109728"/>
            <a:ext cx="777240" cy="222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457200" cy="457200"/>
          </a:xfrm>
          <a:prstGeom prst="ellipse">
            <a:avLst/>
          </a:prstGeom>
          <a:solidFill>
            <a:srgbClr val="C51E6E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9920000">
            <a:off x="10698480" y="6172200"/>
            <a:ext cx="868680" cy="222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384048"/>
            <a:ext cx="658368" cy="658368"/>
          </a:xfrm>
          <a:prstGeom prst="ellipse">
            <a:avLst/>
          </a:prstGeom>
          <a:solidFill>
            <a:srgbClr val="B9E1F5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2000" b="1">
                <a:solidFill>
                  <a:srgbClr val="1A1A1A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 rot="19500000">
            <a:off x="566928" y="1051560"/>
            <a:ext cx="777240" cy="222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1A1A1A"/>
                </a:solidFill>
                <a:latin typeface="맑은 고딕"/>
              </a:defRPr>
            </a:pPr>
            <a:r>
              <a:t>테스트 시나리오 요약 (1/2)</a:t>
            </a:r>
          </a:p>
          <a:p>
            <a:pPr>
              <a:defRPr sz="1200">
                <a:solidFill>
                  <a:srgbClr val="5A5A5A"/>
                </a:solidFill>
                <a:latin typeface="맑은 고딕"/>
              </a:defRPr>
            </a:pPr>
            <a:r>
              <a:t>게스트 → 로그인/진단 → 화장대 등록 → 추천 → 구매까지 한 줄기 흐름 시연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A1A1A"/>
                </a:solidFill>
                <a:latin typeface="맑은 고딕"/>
              </a:defRPr>
            </a:pPr>
            <a:r>
              <a:t>실행 전제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72768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B9E1F5"/>
          </a:solidFill>
          <a:ln w="1397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50" b="1">
                <a:solidFill>
                  <a:srgbClr val="1A1A1A"/>
                </a:solidFill>
                <a:latin typeface="맑은 고딕"/>
              </a:defRPr>
            </a:pPr>
            <a:r>
              <a:t>프론트만 실행 (backend·DB 불필요)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1572768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F6CBE0"/>
          </a:solidFill>
          <a:ln w="1397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50" b="1">
                <a:solidFill>
                  <a:srgbClr val="1A1A1A"/>
                </a:solidFill>
                <a:latin typeface="맑은 고딕"/>
              </a:defRPr>
            </a:pPr>
            <a:r>
              <a:t>상태는 localStorage (swappy:*)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572768"/>
            <a:ext cx="3794760" cy="384048"/>
          </a:xfrm>
          <a:prstGeom prst="roundRect">
            <a:avLst>
              <a:gd name="adj" fmla="val 50000"/>
            </a:avLst>
          </a:prstGeom>
          <a:solidFill>
            <a:srgbClr val="C9CBF2"/>
          </a:solidFill>
          <a:ln w="1397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50" b="1">
                <a:solidFill>
                  <a:srgbClr val="1A1A1A"/>
                </a:solidFill>
                <a:latin typeface="맑은 고딕"/>
              </a:defRPr>
            </a:pPr>
            <a:r>
              <a:t>로그인: 퀵버튼 / 이메일 / 게스트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148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A1A1A"/>
                </a:solidFill>
                <a:latin typeface="맑은 고딕"/>
              </a:defRPr>
            </a:pPr>
            <a:r>
              <a:t>테스트 계정 (비밀번호 공통: swappy1234)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2514600"/>
          <a:ext cx="11064237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5350"/>
                <a:gridCol w="3421929"/>
                <a:gridCol w="2509415"/>
                <a:gridCol w="1254707"/>
                <a:gridCol w="1482836"/>
              </a:tblGrid>
              <a:tr h="33310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역할</a:t>
                      </a:r>
                    </a:p>
                  </a:txBody>
                  <a:tcPr marL="50800" marR="50800" marT="25400" marB="25400">
                    <a:solidFill>
                      <a:srgbClr val="C51E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이메일</a:t>
                      </a:r>
                    </a:p>
                  </a:txBody>
                  <a:tcPr marL="50800" marR="50800" marT="25400" marB="25400">
                    <a:solidFill>
                      <a:srgbClr val="C51E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피부타입</a:t>
                      </a:r>
                    </a:p>
                  </a:txBody>
                  <a:tcPr marL="50800" marR="50800" marT="25400" marB="25400">
                    <a:solidFill>
                      <a:srgbClr val="C51E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보유</a:t>
                      </a:r>
                    </a:p>
                  </a:txBody>
                  <a:tcPr marL="50800" marR="50800" marT="25400" marB="25400">
                    <a:solidFill>
                      <a:srgbClr val="C51E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예산</a:t>
                      </a:r>
                    </a:p>
                  </a:txBody>
                  <a:tcPr marL="50800" marR="50800" marT="25400" marB="25400">
                    <a:solidFill>
                      <a:srgbClr val="C51E6E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게스트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(로그인 안 함)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미정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0개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—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조은성·팀장</a:t>
                      </a:r>
                    </a:p>
                  </a:txBody>
                  <a:tcPr marL="50800" marR="50800" marT="25400" marB="25400">
                    <a:solidFill>
                      <a:srgbClr val="F3EA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eunseong@swappy.app</a:t>
                      </a:r>
                    </a:p>
                  </a:txBody>
                  <a:tcPr marL="50800" marR="50800" marT="25400" marB="25400">
                    <a:solidFill>
                      <a:srgbClr val="F3EA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수분팡팡 옹달샘</a:t>
                      </a:r>
                    </a:p>
                  </a:txBody>
                  <a:tcPr marL="50800" marR="50800" marT="25400" marB="25400">
                    <a:solidFill>
                      <a:srgbClr val="F3EA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2개</a:t>
                      </a:r>
                    </a:p>
                  </a:txBody>
                  <a:tcPr marL="50800" marR="50800" marT="25400" marB="25400">
                    <a:solidFill>
                      <a:srgbClr val="F3EA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4~7만</a:t>
                      </a:r>
                    </a:p>
                  </a:txBody>
                  <a:tcPr marL="50800" marR="50800" marT="25400" marB="25400">
                    <a:solidFill>
                      <a:srgbClr val="F3EAE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최동균·부팀장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donggyun@swappy.app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겉바속촉 수부지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3개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3~5만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박주원·편집</a:t>
                      </a:r>
                    </a:p>
                  </a:txBody>
                  <a:tcPr marL="50800" marR="50800" marT="25400" marB="25400">
                    <a:solidFill>
                      <a:srgbClr val="F3EA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juwon@swappy.app</a:t>
                      </a:r>
                    </a:p>
                  </a:txBody>
                  <a:tcPr marL="50800" marR="50800" marT="25400" marB="25400">
                    <a:solidFill>
                      <a:srgbClr val="F3EA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반질반질 물개</a:t>
                      </a:r>
                    </a:p>
                  </a:txBody>
                  <a:tcPr marL="50800" marR="50800" marT="25400" marB="25400">
                    <a:solidFill>
                      <a:srgbClr val="F3EA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3개</a:t>
                      </a:r>
                    </a:p>
                  </a:txBody>
                  <a:tcPr marL="50800" marR="50800" marT="25400" marB="25400">
                    <a:solidFill>
                      <a:srgbClr val="F3EA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1.5~3.5만</a:t>
                      </a:r>
                    </a:p>
                  </a:txBody>
                  <a:tcPr marL="50800" marR="50800" marT="25400" marB="25400">
                    <a:solidFill>
                      <a:srgbClr val="F3EAE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심유빈·학술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yubin@swappy.app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조심조심 유리구슬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2개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2.5~4.5만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3310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김미송·총무</a:t>
                      </a:r>
                    </a:p>
                  </a:txBody>
                  <a:tcPr marL="50800" marR="50800" marT="25400" marB="25400">
                    <a:solidFill>
                      <a:srgbClr val="F3EA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misong@swappy.app</a:t>
                      </a:r>
                    </a:p>
                  </a:txBody>
                  <a:tcPr marL="50800" marR="50800" marT="25400" marB="25400">
                    <a:solidFill>
                      <a:srgbClr val="F3EA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바스락 사막</a:t>
                      </a:r>
                    </a:p>
                  </a:txBody>
                  <a:tcPr marL="50800" marR="50800" marT="25400" marB="25400">
                    <a:solidFill>
                      <a:srgbClr val="F3EA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5개</a:t>
                      </a:r>
                    </a:p>
                  </a:txBody>
                  <a:tcPr marL="50800" marR="50800" marT="25400" marB="25400">
                    <a:solidFill>
                      <a:srgbClr val="F3EA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5~8만</a:t>
                      </a:r>
                    </a:p>
                  </a:txBody>
                  <a:tcPr marL="50800" marR="50800" marT="25400" marB="25400">
                    <a:solidFill>
                      <a:srgbClr val="F3EAE1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48640" y="50749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A1A1A"/>
                </a:solidFill>
                <a:latin typeface="맑은 고딕"/>
              </a:defRPr>
            </a:pPr>
            <a:r>
              <a:t>시나리오 흐름 (5구간)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4068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1A"/>
                </a:solidFill>
                <a:latin typeface="맑은 고딕"/>
              </a:defRPr>
            </a:pPr>
            <a:r>
              <a:t>① 비로그인</a:t>
            </a:r>
            <a:br/>
            <a:r>
              <a:t>둘러보기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5669280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51E6E"/>
                </a:solidFill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79192" y="544068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1A"/>
                </a:solidFill>
                <a:latin typeface="맑은 고딕"/>
              </a:defRPr>
            </a:pPr>
            <a:r>
              <a:t>② 로그인 +</a:t>
            </a:r>
            <a:br/>
            <a:r>
              <a:t>진단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5669280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51E6E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9744" y="544068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1A"/>
                </a:solidFill>
                <a:latin typeface="맑은 고딕"/>
              </a:defRPr>
            </a:pPr>
            <a:r>
              <a:t>③ 화장대 등록</a:t>
            </a:r>
            <a:br/>
            <a:r>
              <a:t>OCR·챗봇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5704" y="5669280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51E6E"/>
                </a:solidFill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0296" y="544068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1A"/>
                </a:solidFill>
                <a:latin typeface="맑은 고딕"/>
              </a:defRPr>
            </a:pPr>
            <a:r>
              <a:t>④ 개인화</a:t>
            </a:r>
            <a:br/>
            <a:r>
              <a:t>추천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06256" y="5669280"/>
            <a:ext cx="1645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51E6E"/>
                </a:solidFill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70848" y="544068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1A"/>
                </a:solidFill>
                <a:latin typeface="맑은 고딕"/>
              </a:defRPr>
            </a:pPr>
            <a:r>
              <a:t>⑤ 장바구니→구매</a:t>
            </a:r>
            <a:br/>
            <a:r>
              <a:t>→주문내역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19088"/>
            <a:ext cx="11064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A5A5A"/>
                </a:solidFill>
                <a:latin typeface="맑은 고딕"/>
              </a:defRPr>
            </a:pPr>
            <a:r>
              <a:t>승계 시연: 게스트로 먼저 진단 → 로그인하면 swappy:diag:v1:guest가 계정으로 승계됨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228600"/>
            <a:ext cx="11734495" cy="64008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18288"/>
            <a:ext cx="347472" cy="347472"/>
          </a:xfrm>
          <a:prstGeom prst="ellipse">
            <a:avLst/>
          </a:prstGeom>
          <a:solidFill>
            <a:srgbClr val="B9E1F5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9920000">
            <a:off x="822960" y="109728"/>
            <a:ext cx="777240" cy="222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75720" y="6263640"/>
            <a:ext cx="457200" cy="457200"/>
          </a:xfrm>
          <a:prstGeom prst="ellipse">
            <a:avLst/>
          </a:prstGeom>
          <a:solidFill>
            <a:srgbClr val="C51E6E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9920000">
            <a:off x="10698480" y="6172200"/>
            <a:ext cx="868680" cy="222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384048"/>
            <a:ext cx="658368" cy="658368"/>
          </a:xfrm>
          <a:prstGeom prst="ellipse">
            <a:avLst/>
          </a:prstGeom>
          <a:solidFill>
            <a:srgbClr val="B9E1F5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2000" b="1">
                <a:solidFill>
                  <a:srgbClr val="1A1A1A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8" name="Rectangle 7"/>
          <p:cNvSpPr/>
          <p:nvPr/>
        </p:nvSpPr>
        <p:spPr>
          <a:xfrm rot="19500000">
            <a:off x="566928" y="1051560"/>
            <a:ext cx="777240" cy="222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1A1A1A"/>
                </a:solidFill>
                <a:latin typeface="맑은 고딕"/>
              </a:defRPr>
            </a:pPr>
            <a:r>
              <a:t>테스트 시나리오 요약 (2/2)</a:t>
            </a:r>
          </a:p>
          <a:p>
            <a:pPr>
              <a:defRPr sz="1200">
                <a:solidFill>
                  <a:srgbClr val="5A5A5A"/>
                </a:solidFill>
                <a:latin typeface="맑은 고딕"/>
              </a:defRPr>
            </a:pPr>
            <a:r>
              <a:t>구간별 핵심 액션과 확인 포인트 · 시연 전 알아야 할 한계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417320"/>
          <a:ext cx="11064238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699"/>
                <a:gridCol w="4917440"/>
                <a:gridCol w="4610099"/>
              </a:tblGrid>
              <a:tr h="5105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구간</a:t>
                      </a:r>
                    </a:p>
                  </a:txBody>
                  <a:tcPr marL="50800" marR="50800" marT="25400" marB="25400">
                    <a:solidFill>
                      <a:srgbClr val="C51E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핵심 액션</a:t>
                      </a:r>
                    </a:p>
                  </a:txBody>
                  <a:tcPr marL="50800" marR="50800" marT="25400" marB="25400">
                    <a:solidFill>
                      <a:srgbClr val="C51E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확인 포인트</a:t>
                      </a:r>
                    </a:p>
                  </a:txBody>
                  <a:tcPr marL="50800" marR="50800" marT="25400" marB="25400">
                    <a:solidFill>
                      <a:srgbClr val="C51E6E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① 비로그인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Splash → "로그인 없이 둘러보기" → Home 스크롤 → 상품 상세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게스트도 카탈로그·상세 열람 가능 (scope=guest)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② 로그인+진단</a:t>
                      </a:r>
                    </a:p>
                  </a:txBody>
                  <a:tcPr marL="50800" marR="50800" marT="25400" marB="25400">
                    <a:solidFill>
                      <a:srgbClr val="F3EA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데모 퀵버튼 "최동균" → 6문항 응답 → 결과 확인 → 추천받기</a:t>
                      </a:r>
                    </a:p>
                  </a:txBody>
                  <a:tcPr marL="50800" marR="50800" marT="25400" marB="25400">
                    <a:solidFill>
                      <a:srgbClr val="F3EA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답에 따라 결과 타입이 실제로 달라짐, 게스트→계정 진단 승계 배너</a:t>
                      </a:r>
                    </a:p>
                  </a:txBody>
                  <a:tcPr marL="50800" marR="50800" marT="25400" marB="25400">
                    <a:solidFill>
                      <a:srgbClr val="F3EAE1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③ 화장대 등록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OCR: 셔터 탭 → 인식 결과 → 추가 / 챗봇: "등록하기" → 한 줄 입력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화장대에 "스캔 완료" 또는 "챗봇으로 추가" 항목 생성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④ 개인화 추천</a:t>
                      </a:r>
                    </a:p>
                  </a:txBody>
                  <a:tcPr marL="50800" marR="50800" marT="25400" marB="25400">
                    <a:solidFill>
                      <a:srgbClr val="F3EA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Home 재진입 → "맞춤 추천 세트" → "더보기"(대체품)</a:t>
                      </a:r>
                    </a:p>
                  </a:txBody>
                  <a:tcPr marL="50800" marR="50800" marT="25400" marB="25400">
                    <a:solidFill>
                      <a:srgbClr val="F3EA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보유 화장품은 추천에서 제외, 유사도·절약률 배지 표시</a:t>
                      </a:r>
                    </a:p>
                  </a:txBody>
                  <a:tcPr marL="50800" marR="50800" marT="25400" marB="25400">
                    <a:solidFill>
                      <a:srgbClr val="F3EAE1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⑤ 구매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장바구니 담기 → 수량 조절 → "구매하기" → 주문내역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맑은 고딕"/>
                        </a:defRPr>
                      </a:pPr>
                      <a:r>
                        <a:t>방금 구매한 주문이 목록 최상단에 표시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4709160"/>
            <a:ext cx="534924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818888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C51E6E"/>
                </a:solidFill>
                <a:latin typeface="맑은 고딕"/>
              </a:defRPr>
            </a:pPr>
            <a:r>
              <a:t>백엔드 시드 (선택 · DB 확인용)</a:t>
            </a:r>
          </a:p>
          <a:p>
            <a:pPr>
              <a:spcAft>
                <a:spcPts val="300"/>
              </a:spcAft>
              <a:defRPr sz="1050">
                <a:solidFill>
                  <a:srgbClr val="1A1A1A"/>
                </a:solidFill>
                <a:latin typeface="맑은 고딕"/>
              </a:defRPr>
            </a:pPr>
            <a:r>
              <a:t>• python scripts/seed_test_users.py</a:t>
            </a:r>
          </a:p>
          <a:p>
            <a:pPr>
              <a:spcAft>
                <a:spcPts val="300"/>
              </a:spcAft>
              <a:defRPr sz="1050">
                <a:solidFill>
                  <a:srgbClr val="1A1A1A"/>
                </a:solidFill>
                <a:latin typeface="맑은 고딕"/>
              </a:defRPr>
            </a:pPr>
            <a:r>
              <a:t>• personas.json → users/profiles/diagnoses 적재 (멱등)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19" y="4709160"/>
            <a:ext cx="534924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19" y="4818888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C51E6E"/>
                </a:solidFill>
                <a:latin typeface="맑은 고딕"/>
              </a:defRPr>
            </a:pPr>
            <a:r>
              <a:t>남은 한계</a:t>
            </a:r>
          </a:p>
          <a:p>
            <a:pPr>
              <a:spcAft>
                <a:spcPts val="300"/>
              </a:spcAft>
              <a:defRPr sz="1050">
                <a:solidFill>
                  <a:srgbClr val="1A1A1A"/>
                </a:solidFill>
                <a:latin typeface="맑은 고딕"/>
              </a:defRPr>
            </a:pPr>
            <a:r>
              <a:t>• 전부 localStorage 기반 (기기 이동 시 상태 유지 안됨)</a:t>
            </a:r>
          </a:p>
          <a:p>
            <a:pPr>
              <a:spcAft>
                <a:spcPts val="300"/>
              </a:spcAft>
              <a:defRPr sz="1050">
                <a:solidFill>
                  <a:srgbClr val="1A1A1A"/>
                </a:solidFill>
                <a:latin typeface="맑은 고딕"/>
              </a:defRPr>
            </a:pPr>
            <a:r>
              <a:t>• OCR·유사도 추천은 목업, 결제·JWT 인증 미연동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