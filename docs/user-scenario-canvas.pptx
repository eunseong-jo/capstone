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300" y="85725"/>
            <a:ext cx="876300" cy="87630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6200" y="57150"/>
            <a:ext cx="1524000" cy="1371600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725400" y="6753225"/>
            <a:ext cx="876300" cy="876300"/>
          </a:xfrm>
          <a:prstGeom prst="ellipse">
            <a:avLst/>
          </a:prstGeom>
          <a:solidFill>
            <a:srgbClr val="BE117B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2115800" y="6286500"/>
            <a:ext cx="1524000" cy="1371600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09750" y="228600"/>
            <a:ext cx="11658600" cy="190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809750"/>
            <a:ext cx="19050" cy="56769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7649" y="7467599"/>
            <a:ext cx="11658600" cy="190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468350" y="228600"/>
            <a:ext cx="19050" cy="56769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3400" y="419100"/>
            <a:ext cx="685800" cy="685800"/>
          </a:xfrm>
          <a:prstGeom prst="ellipse">
            <a:avLst/>
          </a:prstGeom>
          <a:solidFill>
            <a:srgbClr val="CDEE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4191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111111"/>
                </a:solidFill>
                <a:latin typeface="Fredoka"/>
              </a:defRPr>
            </a:pPr>
            <a: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409700" y="533400"/>
            <a:ext cx="209550" cy="457199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9750" y="476250"/>
            <a:ext cx="66675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700" b="0">
                <a:solidFill>
                  <a:srgbClr val="111111"/>
                </a:solidFill>
                <a:latin typeface="Do Hyeon"/>
              </a:defRPr>
            </a:pPr>
            <a:r>
              <a:t>사용자 시나리오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750" y="895350"/>
            <a:ext cx="666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8A8A8A"/>
                </a:solidFill>
                <a:latin typeface="맑은 고딕"/>
              </a:defRPr>
            </a:pPr>
            <a:r>
              <a:t>조 감독 시나리오 · 게스트 탐색부터 구매까지 한 흐름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1333500"/>
            <a:ext cx="12649200" cy="857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" y="1447800"/>
            <a:ext cx="1226820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defRPr sz="1350" b="0">
                <a:solidFill>
                  <a:srgbClr val="222222"/>
                </a:solidFill>
                <a:latin typeface="맑은 고딕"/>
              </a:defRPr>
            </a:pPr>
            <a:r>
              <a:t>게스트로 둘러보다가 로그인하며 피부타입을 진단하고, 화장대에 내 화장품을 등록한 뒤,</a:t>
            </a:r>
            <a:br/>
            <a:r>
              <a:t>피부타입 · 보유 화장품을 반영한 추천으로 장바구니 구매까지 — 한 줄기로 이어지는 데모 시나리오입니다.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2381250"/>
            <a:ext cx="3429000" cy="426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2950" y="2590800"/>
            <a:ext cx="723900" cy="723900"/>
          </a:xfrm>
          <a:prstGeom prst="ellipse">
            <a:avLst/>
          </a:prstGeom>
          <a:solidFill>
            <a:srgbClr val="EAF6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ubuj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06" y="2619756"/>
            <a:ext cx="665988" cy="6659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0200" y="2628900"/>
            <a:ext cx="2095499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111111"/>
                </a:solidFill>
                <a:latin typeface="맑은 고딕"/>
              </a:defRPr>
            </a:pPr>
            <a:r>
              <a:t>최동균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2914650"/>
            <a:ext cx="1428750" cy="247649"/>
          </a:xfrm>
          <a:prstGeom prst="roundRect">
            <a:avLst>
              <a:gd name="adj" fmla="val 50000"/>
            </a:avLst>
          </a:prstGeom>
          <a:solidFill>
            <a:srgbClr val="CD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2914650"/>
            <a:ext cx="1428750" cy="2476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11111"/>
                </a:solidFill>
                <a:latin typeface="맑은 고딕"/>
              </a:defRPr>
            </a:pPr>
            <a:r>
              <a:t>겉바속촉 수부지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2950" y="3448050"/>
            <a:ext cx="3009900" cy="0"/>
          </a:xfrm>
          <a:prstGeom prst="line">
            <a:avLst/>
          </a:prstGeom>
          <a:ln w="12700">
            <a:solidFill>
              <a:srgbClr val="EDE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2950" y="3581400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A8A8A"/>
                </a:solidFill>
                <a:latin typeface="맑은 고딕"/>
              </a:defRPr>
            </a:pPr>
            <a:r>
              <a:t>역할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581400"/>
            <a:ext cx="3009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111111"/>
                </a:solidFill>
                <a:latin typeface="맑은 고딕"/>
              </a:defRPr>
            </a:pPr>
            <a:r>
              <a:t>부팀장 · 상품 데이터 ·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895725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A8A8A"/>
                </a:solidFill>
                <a:latin typeface="맑은 고딕"/>
              </a:defRPr>
            </a:pPr>
            <a:r>
              <a:t>계정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895725"/>
            <a:ext cx="3009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111111"/>
                </a:solidFill>
                <a:latin typeface="맑은 고딕"/>
              </a:defRPr>
            </a:pPr>
            <a:r>
              <a:t>donggyun@swappy.app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4210050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A8A8A"/>
                </a:solidFill>
                <a:latin typeface="맑은 고딕"/>
              </a:defRPr>
            </a:pPr>
            <a:r>
              <a:t>보유 화장품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4210050"/>
            <a:ext cx="3009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111111"/>
                </a:solidFill>
                <a:latin typeface="맑은 고딕"/>
              </a:defRPr>
            </a:pPr>
            <a:r>
              <a:t>3개 (시드 등록)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4524375"/>
            <a:ext cx="1333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A8A8A"/>
                </a:solidFill>
                <a:latin typeface="맑은 고딕"/>
              </a:defRPr>
            </a:pPr>
            <a:r>
              <a:t>예산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4524375"/>
            <a:ext cx="3009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111111"/>
                </a:solidFill>
                <a:latin typeface="맑은 고딕"/>
              </a:defRPr>
            </a:pPr>
            <a:r>
              <a:t>3~5만원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950" y="6019800"/>
            <a:ext cx="3009900" cy="419100"/>
          </a:xfrm>
          <a:prstGeom prst="roundRect">
            <a:avLst>
              <a:gd name="adj" fmla="val 27272"/>
            </a:avLst>
          </a:prstGeom>
          <a:solidFill>
            <a:srgbClr val="FFF3E0"/>
          </a:solidFill>
          <a:ln w="19050">
            <a:solidFill>
              <a:srgbClr val="F0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6019800"/>
            <a:ext cx="28194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7A5300"/>
                </a:solidFill>
                <a:latin typeface="맑은 고딕"/>
              </a:defRPr>
            </a:pPr>
            <a:r>
              <a:t>로그인 화면의 데모 퀵버튼으로 즉시 로그인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050" y="2381250"/>
            <a:ext cx="8972550" cy="426720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7700" y="2590800"/>
            <a:ext cx="285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8A8A8A"/>
                </a:solidFill>
                <a:latin typeface="맑은 고딕"/>
              </a:defRPr>
            </a:pPr>
            <a:r>
              <a:t>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57700" y="2819400"/>
            <a:ext cx="1123950" cy="419100"/>
          </a:xfrm>
          <a:prstGeom prst="roundRect">
            <a:avLst>
              <a:gd name="adj" fmla="val 27272"/>
            </a:avLst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7700" y="2819400"/>
            <a:ext cx="11239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111111"/>
                </a:solidFill>
                <a:latin typeface="Fredoka"/>
              </a:defRPr>
            </a:pPr>
            <a:r>
              <a:t>GUEST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53100" y="2819400"/>
            <a:ext cx="59436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111"/>
                </a:solidFill>
                <a:latin typeface="맑은 고딕"/>
              </a:defRPr>
            </a:pPr>
            <a:r>
              <a:t>로그인 없이 홈 · 상세 둘러보기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96700" y="2819400"/>
            <a:ext cx="12382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8A8A8A"/>
                </a:solidFill>
                <a:latin typeface="맑은 고딕"/>
              </a:defRPr>
            </a:pPr>
            <a:r>
              <a:t>EXPLORE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3950" y="3276600"/>
            <a:ext cx="0" cy="119062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76800" y="33528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933950" y="33528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457700" y="3619500"/>
            <a:ext cx="1123950" cy="419100"/>
          </a:xfrm>
          <a:prstGeom prst="roundRect">
            <a:avLst>
              <a:gd name="adj" fmla="val 27272"/>
            </a:avLst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7700" y="3619500"/>
            <a:ext cx="11239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111111"/>
                </a:solidFill>
                <a:latin typeface="Fredoka"/>
              </a:defRPr>
            </a:pPr>
            <a:r>
              <a:t>LOGIN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53100" y="3619500"/>
            <a:ext cx="59436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111"/>
                </a:solidFill>
                <a:latin typeface="맑은 고딕"/>
              </a:defRPr>
            </a:pPr>
            <a:r>
              <a:t>데모 계정 로그인 → 6문항 진단(QnA)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96700" y="3619500"/>
            <a:ext cx="12382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8A8A8A"/>
                </a:solidFill>
                <a:latin typeface="맑은 고딕"/>
              </a:defRPr>
            </a:pPr>
            <a:r>
              <a:t>DIAGNOSE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933950" y="4076699"/>
            <a:ext cx="0" cy="119063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876800" y="41529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33950" y="41529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457700" y="4419600"/>
            <a:ext cx="1123950" cy="419100"/>
          </a:xfrm>
          <a:prstGeom prst="roundRect">
            <a:avLst>
              <a:gd name="adj" fmla="val 27272"/>
            </a:avLst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7700" y="4419600"/>
            <a:ext cx="11239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111111"/>
                </a:solidFill>
                <a:latin typeface="Fredoka"/>
              </a:defRPr>
            </a:pPr>
            <a:r>
              <a:t>CLOSET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53100" y="4419600"/>
            <a:ext cx="59436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111"/>
                </a:solidFill>
                <a:latin typeface="맑은 고딕"/>
              </a:defRPr>
            </a:pPr>
            <a:r>
              <a:t>화장대에 내 화장품 등록 (OCR · 챗봇)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96700" y="4419600"/>
            <a:ext cx="12382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8A8A8A"/>
                </a:solidFill>
                <a:latin typeface="맑은 고딕"/>
              </a:defRPr>
            </a:pPr>
            <a:r>
              <a:t>REGISTER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933950" y="4876800"/>
            <a:ext cx="0" cy="119062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876800" y="49530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933950" y="49530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457700" y="5219700"/>
            <a:ext cx="1123950" cy="419100"/>
          </a:xfrm>
          <a:prstGeom prst="roundRect">
            <a:avLst>
              <a:gd name="adj" fmla="val 27272"/>
            </a:avLst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7700" y="5219700"/>
            <a:ext cx="11239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111111"/>
                </a:solidFill>
                <a:latin typeface="Fredoka"/>
              </a:defRPr>
            </a:pPr>
            <a:r>
              <a:t>MATCH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53100" y="5219700"/>
            <a:ext cx="59436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111"/>
                </a:solidFill>
                <a:latin typeface="맑은 고딕"/>
              </a:defRPr>
            </a:pPr>
            <a:r>
              <a:t>피부타입 + 보유 화장품 반영 추천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96700" y="5219700"/>
            <a:ext cx="12382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8A8A8A"/>
                </a:solidFill>
                <a:latin typeface="맑은 고딕"/>
              </a:defRPr>
            </a:pPr>
            <a:r>
              <a:t>RECOMMEND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33950" y="5676900"/>
            <a:ext cx="0" cy="119062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76800" y="57531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933950" y="5753100"/>
            <a:ext cx="57150" cy="66675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457700" y="6019800"/>
            <a:ext cx="1123950" cy="419100"/>
          </a:xfrm>
          <a:prstGeom prst="roundRect">
            <a:avLst>
              <a:gd name="adj" fmla="val 27272"/>
            </a:avLst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57700" y="6019800"/>
            <a:ext cx="11239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250" b="1">
                <a:solidFill>
                  <a:srgbClr val="111111"/>
                </a:solidFill>
                <a:latin typeface="Fredoka"/>
              </a:defRPr>
            </a:pPr>
            <a:r>
              <a:t>CART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53100" y="6019800"/>
            <a:ext cx="59436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111"/>
                </a:solidFill>
                <a:latin typeface="맑은 고딕"/>
              </a:defRPr>
            </a:pPr>
            <a:r>
              <a:t>장바구니 담기 → 구매 → 주문내역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96700" y="6019800"/>
            <a:ext cx="12382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8A8A8A"/>
                </a:solidFill>
                <a:latin typeface="맑은 고딕"/>
              </a:defRPr>
            </a:pPr>
            <a:r>
              <a:t>CHECKOUT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3400" y="6838950"/>
            <a:ext cx="12649200" cy="533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42950" y="6981825"/>
            <a:ext cx="590550" cy="247649"/>
          </a:xfrm>
          <a:prstGeom prst="roundRect">
            <a:avLst>
              <a:gd name="adj" fmla="val 50000"/>
            </a:avLst>
          </a:prstGeom>
          <a:solidFill>
            <a:srgbClr val="FCE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2950" y="6981825"/>
            <a:ext cx="590550" cy="2476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7A5300"/>
                </a:solidFill>
                <a:latin typeface="맑은 고딕"/>
              </a:defRPr>
            </a:pPr>
            <a:r>
              <a:t>실행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66850" y="6838950"/>
            <a:ext cx="115062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npm run dev — 백엔드 · DB 없이 프론트만으로 전 구간 시연 가능 (상태는 localStorage)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300" y="85725"/>
            <a:ext cx="876300" cy="87630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6200" y="57150"/>
            <a:ext cx="1524000" cy="1371600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725400" y="6753225"/>
            <a:ext cx="876300" cy="876300"/>
          </a:xfrm>
          <a:prstGeom prst="ellipse">
            <a:avLst/>
          </a:prstGeom>
          <a:solidFill>
            <a:srgbClr val="BE117B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2115800" y="6286500"/>
            <a:ext cx="1524000" cy="1371600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09750" y="228600"/>
            <a:ext cx="11658600" cy="190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809750"/>
            <a:ext cx="19050" cy="56769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7649" y="7467599"/>
            <a:ext cx="11658600" cy="190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468350" y="228600"/>
            <a:ext cx="19050" cy="56769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3400" y="419100"/>
            <a:ext cx="685800" cy="685800"/>
          </a:xfrm>
          <a:prstGeom prst="ellipse">
            <a:avLst/>
          </a:prstGeom>
          <a:solidFill>
            <a:srgbClr val="CDEE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4191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111111"/>
                </a:solidFill>
                <a:latin typeface="Fredoka"/>
              </a:defRPr>
            </a:pPr>
            <a: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409700" y="533400"/>
            <a:ext cx="209550" cy="457199"/>
          </a:xfrm>
          <a:prstGeom prst="line">
            <a:avLst/>
          </a:prstGeom>
          <a:ln w="2413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9750" y="476250"/>
            <a:ext cx="476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700" b="0">
                <a:solidFill>
                  <a:srgbClr val="111111"/>
                </a:solidFill>
                <a:latin typeface="Do Hyeon"/>
              </a:defRPr>
            </a:pPr>
            <a:r>
              <a:t>시나리오 상세 흐름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200" y="533400"/>
            <a:ext cx="657225" cy="247649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177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5200" y="533400"/>
            <a:ext cx="657225" cy="2476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111111"/>
                </a:solidFill>
                <a:latin typeface="맑은 고딕"/>
              </a:defRPr>
            </a:pPr>
            <a:r>
              <a:t>2 /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9750" y="895350"/>
            <a:ext cx="666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8A8A8A"/>
                </a:solidFill>
                <a:latin typeface="맑은 고딕"/>
              </a:defRPr>
            </a:pPr>
            <a:r>
              <a:t>docs/demo-scenario.md — 21스텝 워크스루 요약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133350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1485900"/>
            <a:ext cx="285750" cy="28575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48590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11111"/>
                </a:solidFill>
                <a:latin typeface="Fredoka"/>
              </a:defRPr>
            </a:pPr>
            <a:r>
              <a:t>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7749" y="1533525"/>
            <a:ext cx="581025" cy="190500"/>
          </a:xfrm>
          <a:prstGeom prst="roundRect">
            <a:avLst>
              <a:gd name="adj" fmla="val 50000"/>
            </a:avLst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749" y="1533525"/>
            <a:ext cx="58102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444444"/>
                </a:solidFill>
                <a:latin typeface="맑은 고딕"/>
              </a:defRPr>
            </a:pPr>
            <a:r>
              <a:t>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885950"/>
            <a:ext cx="272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111111"/>
                </a:solidFill>
                <a:latin typeface="맑은 고딕"/>
              </a:defRPr>
            </a:pPr>
            <a:r>
              <a:t>화면 둘러보기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133600"/>
            <a:ext cx="2728912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로그인 없이 홈 · 상세 화면 열람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8562" y="133350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90962" y="1485900"/>
            <a:ext cx="285750" cy="28575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0962" y="148590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11111"/>
                </a:solidFill>
                <a:latin typeface="Fredoka"/>
              </a:defRPr>
            </a:pPr>
            <a:r>
              <a:t>02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2912" y="1533525"/>
            <a:ext cx="581025" cy="190500"/>
          </a:xfrm>
          <a:prstGeom prst="roundRect">
            <a:avLst>
              <a:gd name="adj" fmla="val 50000"/>
            </a:avLst>
          </a:prstGeom>
          <a:solidFill>
            <a:srgbClr val="7E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2912" y="1533525"/>
            <a:ext cx="58102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로그인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0962" y="1885950"/>
            <a:ext cx="272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111111"/>
                </a:solidFill>
                <a:latin typeface="맑은 고딕"/>
              </a:defRPr>
            </a:pPr>
            <a:r>
              <a:t>로그인 +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0962" y="2133600"/>
            <a:ext cx="2728912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데모 계정 → 6문항 QnA → 5축 · 8타입 산출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3725" y="133350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96125" y="1485900"/>
            <a:ext cx="285750" cy="28575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96125" y="148590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11111"/>
                </a:solidFill>
                <a:latin typeface="Fredoka"/>
              </a:defRPr>
            </a:pPr>
            <a:r>
              <a:t>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8075" y="1533525"/>
            <a:ext cx="581025" cy="190500"/>
          </a:xfrm>
          <a:prstGeom prst="roundRect">
            <a:avLst>
              <a:gd name="adj" fmla="val 50000"/>
            </a:avLst>
          </a:prstGeom>
          <a:solidFill>
            <a:srgbClr val="7E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8075" y="1533525"/>
            <a:ext cx="58102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로그인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6125" y="1885950"/>
            <a:ext cx="272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111111"/>
                </a:solidFill>
                <a:latin typeface="맑은 고딕"/>
              </a:defRPr>
            </a:pPr>
            <a:r>
              <a:t>진단 승계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6125" y="2133600"/>
            <a:ext cx="2728912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게스트일 때 진단한 결과를 계정으로 이전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48887" y="133350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01287" y="1485900"/>
            <a:ext cx="285750" cy="28575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01287" y="148590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11111"/>
                </a:solidFill>
                <a:latin typeface="Fredoka"/>
              </a:defRPr>
            </a:pPr>
            <a:r>
              <a:t>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63237" y="1533525"/>
            <a:ext cx="581025" cy="190500"/>
          </a:xfrm>
          <a:prstGeom prst="roundRect">
            <a:avLst>
              <a:gd name="adj" fmla="val 50000"/>
            </a:avLst>
          </a:prstGeom>
          <a:solidFill>
            <a:srgbClr val="BE1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63237" y="1533525"/>
            <a:ext cx="58102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화장대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01287" y="1885950"/>
            <a:ext cx="272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111111"/>
                </a:solidFill>
                <a:latin typeface="맑은 고딕"/>
              </a:defRPr>
            </a:pPr>
            <a:r>
              <a:t>화장대 등록 · OCR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1287" y="2133600"/>
            <a:ext cx="2728912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스캔 → 인식 결과 → 화장대에 추가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3400" y="443865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4591050"/>
            <a:ext cx="285750" cy="28575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59105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11111"/>
                </a:solidFill>
                <a:latin typeface="Fredoka"/>
              </a:defRPr>
            </a:pPr>
            <a:r>
              <a:t>05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7749" y="4638675"/>
            <a:ext cx="581025" cy="190500"/>
          </a:xfrm>
          <a:prstGeom prst="roundRect">
            <a:avLst>
              <a:gd name="adj" fmla="val 50000"/>
            </a:avLst>
          </a:prstGeom>
          <a:solidFill>
            <a:srgbClr val="BE1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7749" y="4638675"/>
            <a:ext cx="58102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화장대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991100"/>
            <a:ext cx="272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111111"/>
                </a:solidFill>
                <a:latin typeface="맑은 고딕"/>
              </a:defRPr>
            </a:pPr>
            <a:r>
              <a:t>화장대 등록 · 챗봇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38750"/>
            <a:ext cx="2728912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대화로 브랜드 + 제품명 한 줄 등록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38562" y="443865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890962" y="4591050"/>
            <a:ext cx="285750" cy="28575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90962" y="459105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11111"/>
                </a:solidFill>
                <a:latin typeface="Fredoka"/>
              </a:defRPr>
            </a:pPr>
            <a:r>
              <a:t>06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52912" y="4638675"/>
            <a:ext cx="438150" cy="190500"/>
          </a:xfrm>
          <a:prstGeom prst="roundRect">
            <a:avLst>
              <a:gd name="adj" fmla="val 50000"/>
            </a:avLst>
          </a:prstGeom>
          <a:solidFill>
            <a:srgbClr val="CD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2912" y="4638675"/>
            <a:ext cx="4381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0B4A6B"/>
                </a:solidFill>
                <a:latin typeface="맑은 고딕"/>
              </a:defRPr>
            </a:pPr>
            <a:r>
              <a:t>추천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90962" y="4991100"/>
            <a:ext cx="272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111111"/>
                </a:solidFill>
                <a:latin typeface="맑은 고딕"/>
              </a:defRPr>
            </a:pPr>
            <a:r>
              <a:t>맞춤 추천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90962" y="5238750"/>
            <a:ext cx="2728912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피부타입 궁합 + 보유 화장품 제외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43725" y="443865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096125" y="4591050"/>
            <a:ext cx="285750" cy="28575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96125" y="4591050"/>
            <a:ext cx="2857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111111"/>
                </a:solidFill>
                <a:latin typeface="Fredoka"/>
              </a:defRPr>
            </a:pPr>
            <a:r>
              <a:t>07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58075" y="4638675"/>
            <a:ext cx="438150" cy="190500"/>
          </a:xfrm>
          <a:prstGeom prst="roundRect">
            <a:avLst>
              <a:gd name="adj" fmla="val 50000"/>
            </a:avLst>
          </a:prstGeom>
          <a:solidFill>
            <a:srgbClr val="CFE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8075" y="4638675"/>
            <a:ext cx="4381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1F7A34"/>
                </a:solidFill>
                <a:latin typeface="맑은 고딕"/>
              </a:defRPr>
            </a:pPr>
            <a:r>
              <a:t>구매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6125" y="4991100"/>
            <a:ext cx="272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111111"/>
                </a:solidFill>
                <a:latin typeface="맑은 고딕"/>
              </a:defRPr>
            </a:pPr>
            <a:r>
              <a:t>장바구니 → 구매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96125" y="5238750"/>
            <a:ext cx="2728912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담기 → 결제 → 주문내역 반영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48887" y="4438650"/>
            <a:ext cx="3033712" cy="2933700"/>
          </a:xfrm>
          <a:prstGeom prst="roundRect">
            <a:avLst>
              <a:gd name="adj" fmla="val 5194"/>
            </a:avLst>
          </a:prstGeom>
          <a:solidFill>
            <a:srgbClr val="FFF7E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82237" y="4552950"/>
            <a:ext cx="2767012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111111"/>
                </a:solidFill>
                <a:latin typeface="맑은 고딕"/>
              </a:defRPr>
            </a:pPr>
            <a:r>
              <a:t>테스트 계정 · 팀원 5 + 게스트</a:t>
            </a:r>
          </a:p>
        </p:txBody>
      </p:sp>
      <p:sp>
        <p:nvSpPr>
          <p:cNvPr id="68" name="Oval 67"/>
          <p:cNvSpPr/>
          <p:nvPr/>
        </p:nvSpPr>
        <p:spPr>
          <a:xfrm>
            <a:off x="10282237" y="4819650"/>
            <a:ext cx="209550" cy="2095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ongdalsa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619" y="4828032"/>
            <a:ext cx="192786" cy="19278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567987" y="4819650"/>
            <a:ext cx="666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11111"/>
                </a:solidFill>
                <a:latin typeface="맑은 고딕"/>
              </a:defRPr>
            </a:pPr>
            <a:r>
              <a:t>조은성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8537" y="4819650"/>
            <a:ext cx="1928812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8A8A8A"/>
                </a:solidFill>
                <a:latin typeface="맑은 고딕"/>
              </a:defRPr>
            </a:pPr>
            <a:r>
              <a:t>eunseong@ · 팀장</a:t>
            </a:r>
          </a:p>
        </p:txBody>
      </p:sp>
      <p:sp>
        <p:nvSpPr>
          <p:cNvPr id="72" name="Oval 71"/>
          <p:cNvSpPr/>
          <p:nvPr/>
        </p:nvSpPr>
        <p:spPr>
          <a:xfrm>
            <a:off x="10282237" y="5086350"/>
            <a:ext cx="209550" cy="2095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subu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619" y="5094732"/>
            <a:ext cx="192786" cy="19278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567987" y="5086350"/>
            <a:ext cx="666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11111"/>
                </a:solidFill>
                <a:latin typeface="맑은 고딕"/>
              </a:defRPr>
            </a:pPr>
            <a:r>
              <a:t>최동균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8537" y="5086350"/>
            <a:ext cx="1928812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8A8A8A"/>
                </a:solidFill>
                <a:latin typeface="맑은 고딕"/>
              </a:defRPr>
            </a:pPr>
            <a:r>
              <a:t>donggyun@ · 부팀장</a:t>
            </a:r>
          </a:p>
        </p:txBody>
      </p:sp>
      <p:sp>
        <p:nvSpPr>
          <p:cNvPr id="76" name="Oval 75"/>
          <p:cNvSpPr/>
          <p:nvPr/>
        </p:nvSpPr>
        <p:spPr>
          <a:xfrm>
            <a:off x="10282237" y="5353050"/>
            <a:ext cx="209550" cy="2095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mulg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619" y="5361432"/>
            <a:ext cx="192786" cy="19278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567987" y="5353050"/>
            <a:ext cx="666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11111"/>
                </a:solidFill>
                <a:latin typeface="맑은 고딕"/>
              </a:defRPr>
            </a:pPr>
            <a:r>
              <a:t>박주원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58537" y="5353050"/>
            <a:ext cx="1928812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8A8A8A"/>
                </a:solidFill>
                <a:latin typeface="맑은 고딕"/>
              </a:defRPr>
            </a:pPr>
            <a:r>
              <a:t>juwon@ · 편집</a:t>
            </a:r>
          </a:p>
        </p:txBody>
      </p:sp>
      <p:sp>
        <p:nvSpPr>
          <p:cNvPr id="80" name="Oval 79"/>
          <p:cNvSpPr/>
          <p:nvPr/>
        </p:nvSpPr>
        <p:spPr>
          <a:xfrm>
            <a:off x="10282237" y="5619750"/>
            <a:ext cx="209550" cy="2095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yuriguse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0619" y="5628132"/>
            <a:ext cx="192786" cy="19278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567987" y="5619750"/>
            <a:ext cx="666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11111"/>
                </a:solidFill>
                <a:latin typeface="맑은 고딕"/>
              </a:defRPr>
            </a:pPr>
            <a:r>
              <a:t>심유빈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58537" y="5619750"/>
            <a:ext cx="1928812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8A8A8A"/>
                </a:solidFill>
                <a:latin typeface="맑은 고딕"/>
              </a:defRPr>
            </a:pPr>
            <a:r>
              <a:t>yubin@ · 학술</a:t>
            </a:r>
          </a:p>
        </p:txBody>
      </p:sp>
      <p:sp>
        <p:nvSpPr>
          <p:cNvPr id="84" name="Oval 83"/>
          <p:cNvSpPr/>
          <p:nvPr/>
        </p:nvSpPr>
        <p:spPr>
          <a:xfrm>
            <a:off x="10282237" y="5886450"/>
            <a:ext cx="209550" cy="2095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ama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0619" y="5894832"/>
            <a:ext cx="192786" cy="19278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567987" y="5886450"/>
            <a:ext cx="666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111111"/>
                </a:solidFill>
                <a:latin typeface="맑은 고딕"/>
              </a:defRPr>
            </a:pPr>
            <a:r>
              <a:t>김미송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58537" y="5886450"/>
            <a:ext cx="1928812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defRPr sz="850" b="0">
                <a:solidFill>
                  <a:srgbClr val="8A8A8A"/>
                </a:solidFill>
                <a:latin typeface="맑은 고딕"/>
              </a:defRPr>
            </a:pPr>
            <a:r>
              <a:t>misong@ · 총무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82237" y="7124700"/>
            <a:ext cx="2767012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8A8A8A"/>
                </a:solidFill>
                <a:latin typeface="맑은 고딕"/>
              </a:defRPr>
            </a:pPr>
            <a:r>
              <a:t>+ 게스트(로그인 없음) · 전부 @swappy.app · 비밀번호 swappy1234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