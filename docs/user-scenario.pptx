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-320040"/>
            <a:ext cx="1371600" cy="1371600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500000">
            <a:off x="1463040" y="822960"/>
            <a:ext cx="1463040" cy="317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989320"/>
            <a:ext cx="1371600" cy="1371600"/>
          </a:xfrm>
          <a:prstGeom prst="ellipse">
            <a:avLst/>
          </a:prstGeom>
          <a:solidFill>
            <a:srgbClr val="C51E6E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500000">
            <a:off x="9966960" y="5623560"/>
            <a:ext cx="1463040" cy="317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C51E6E"/>
                </a:solidFill>
                <a:latin typeface="맑은 고딕"/>
              </a:defRPr>
            </a:pPr>
            <a:r>
              <a:t>SWAPPY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맑은 고딕"/>
              </a:defRPr>
            </a:pPr>
            <a:r>
              <a:t>사용자 시나리오</a:t>
            </a:r>
          </a:p>
          <a:p>
            <a:pPr>
              <a:defRPr sz="1500">
                <a:solidFill>
                  <a:srgbClr val="5A5A5A"/>
                </a:solidFill>
                <a:latin typeface="맑은 고딕"/>
              </a:defRPr>
            </a:pPr>
            <a:r>
              <a:t>비로그인 → 로그인/진단 → 화장대 등록(OCR·챗봇) → 개인화 추천 → 장바구니 → 구매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  <a:latin typeface="맑은 고딕"/>
              </a:defRPr>
            </a:pPr>
            <a:r>
              <a:t>인공지능소프트웨어학과 QB 1조 · 지도교수 시연용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18288"/>
            <a:ext cx="347472" cy="347472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920000">
            <a:off x="822960" y="109728"/>
            <a:ext cx="77724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457200" cy="457200"/>
          </a:xfrm>
          <a:prstGeom prst="ellipse">
            <a:avLst/>
          </a:prstGeom>
          <a:solidFill>
            <a:srgbClr val="C51E6E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920000">
            <a:off x="10698480" y="6172200"/>
            <a:ext cx="86868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2200" b="1">
                <a:solidFill>
                  <a:srgbClr val="1A1A1A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 rot="19500000">
            <a:off x="566928" y="1170432"/>
            <a:ext cx="8229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38912"/>
            <a:ext cx="9692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1A1A1A"/>
                </a:solidFill>
                <a:latin typeface="맑은 고딕"/>
              </a:defRPr>
            </a:pPr>
            <a:r>
              <a:t>시나리오 개요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400" b="0">
                <a:solidFill>
                  <a:srgbClr val="1A1A1A"/>
                </a:solidFill>
                <a:latin typeface="맑은 고딕"/>
              </a:defRPr>
            </a:pPr>
            <a:r>
              <a:t>지도교수 시연·발표에서 게스트 진입부터 로그인·진단·화장대 등록·추천·구매까지</a:t>
            </a:r>
            <a:br/>
            <a:r>
              <a:t>하나의 흐름을 끊김 없이 보여주는 것이 목표입니다.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실행 전제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3566160" cy="2651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291840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400" b="1">
                <a:solidFill>
                  <a:srgbClr val="1A1A1A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31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A1A1A"/>
                </a:solidFill>
                <a:latin typeface="맑은 고딕"/>
              </a:defRPr>
            </a:pPr>
            <a:r>
              <a:t>프론트엔드만 실행</a:t>
            </a:r>
          </a:p>
          <a:p>
            <a:pPr>
              <a:defRPr sz="1200">
                <a:solidFill>
                  <a:srgbClr val="5A5A5A"/>
                </a:solidFill>
                <a:latin typeface="맑은 고딕"/>
              </a:defRPr>
            </a:pPr>
            <a:r>
              <a:t>backend·DB 불필요</a:t>
            </a:r>
          </a:p>
          <a:p>
            <a:pPr>
              <a:defRPr sz="1200">
                <a:solidFill>
                  <a:srgbClr val="5A5A5A"/>
                </a:solidFill>
                <a:latin typeface="맑은 고딕"/>
              </a:defRPr>
            </a:pPr>
            <a:r>
              <a:t>npm run dev로 바로 시연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3063240"/>
            <a:ext cx="3566160" cy="2651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6279" y="3291840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400" b="1">
                <a:solidFill>
                  <a:srgbClr val="1A1A1A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3931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A1A1A"/>
                </a:solidFill>
                <a:latin typeface="맑은 고딕"/>
              </a:defRPr>
            </a:pPr>
            <a:r>
              <a:t>localStorage 상태</a:t>
            </a:r>
          </a:p>
          <a:p>
            <a:pPr>
              <a:defRPr sz="1200">
                <a:solidFill>
                  <a:srgbClr val="5A5A5A"/>
                </a:solidFill>
                <a:latin typeface="맑은 고딕"/>
              </a:defRPr>
            </a:pPr>
            <a:r>
              <a:t>로그인·진단·화장대·장바구니</a:t>
            </a:r>
          </a:p>
          <a:p>
            <a:pPr>
              <a:defRPr sz="1200">
                <a:solidFill>
                  <a:srgbClr val="5A5A5A"/>
                </a:solidFill>
                <a:latin typeface="맑은 고딕"/>
              </a:defRPr>
            </a:pPr>
            <a:r>
              <a:t>swappy:* 키에 저장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3063240"/>
            <a:ext cx="3566160" cy="2651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75319" y="3291840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400" b="1">
                <a:solidFill>
                  <a:srgbClr val="1A1A1A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931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A1A1A"/>
                </a:solidFill>
                <a:latin typeface="맑은 고딕"/>
              </a:defRPr>
            </a:pPr>
            <a:r>
              <a:t>3가지 로그인</a:t>
            </a:r>
          </a:p>
          <a:p>
            <a:pPr>
              <a:defRPr sz="1200">
                <a:solidFill>
                  <a:srgbClr val="5A5A5A"/>
                </a:solidFill>
                <a:latin typeface="맑은 고딕"/>
              </a:defRPr>
            </a:pPr>
            <a:r>
              <a:t>데모 퀵버튼 / 이메일 로그인 /</a:t>
            </a:r>
          </a:p>
          <a:p>
            <a:pPr>
              <a:defRPr sz="1200">
                <a:solidFill>
                  <a:srgbClr val="5A5A5A"/>
                </a:solidFill>
                <a:latin typeface="맑은 고딕"/>
              </a:defRPr>
            </a:pPr>
            <a:r>
              <a:t>게스트로 둘러보기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맑은 고딕"/>
              </a:defRPr>
            </a:pPr>
            <a:r>
              <a:t>시연 리셋: 개발자도구 → Application → Local Storage에서 swappy:* 삭제, 또는 시크릿 창 사용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18288"/>
            <a:ext cx="347472" cy="347472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920000">
            <a:off x="822960" y="109728"/>
            <a:ext cx="77724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457200" cy="457200"/>
          </a:xfrm>
          <a:prstGeom prst="ellipse">
            <a:avLst/>
          </a:prstGeom>
          <a:solidFill>
            <a:srgbClr val="C51E6E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920000">
            <a:off x="10698480" y="6172200"/>
            <a:ext cx="86868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2200" b="1">
                <a:solidFill>
                  <a:srgbClr val="1A1A1A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 rot="19500000">
            <a:off x="566928" y="1170432"/>
            <a:ext cx="8229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38912"/>
            <a:ext cx="9692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1A1A1A"/>
                </a:solidFill>
                <a:latin typeface="맑은 고딕"/>
              </a:defRPr>
            </a:pPr>
            <a:r>
              <a:t>테스트 계정 (페르소나)</a:t>
            </a:r>
          </a:p>
          <a:p>
            <a:pPr>
              <a:defRPr sz="1300">
                <a:solidFill>
                  <a:srgbClr val="5A5A5A"/>
                </a:solidFill>
                <a:latin typeface="맑은 고딕"/>
              </a:defRPr>
            </a:pPr>
            <a:r>
              <a:t>비밀번호는 전부 swappy1234 — 팀 구성과 동일 인물·역할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783080"/>
            <a:ext cx="3246120" cy="41148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게스트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13432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이메일  로그인 안 함</a:t>
            </a:r>
          </a:p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피부타입  —</a:t>
            </a:r>
          </a:p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보유 화장품  미정 · 0개</a:t>
            </a:r>
          </a:p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예산  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1783080"/>
            <a:ext cx="3246120" cy="411480"/>
          </a:xfrm>
          <a:prstGeom prst="roundRect">
            <a:avLst>
              <a:gd name="adj" fmla="val 50000"/>
            </a:avLst>
          </a:prstGeom>
          <a:solidFill>
            <a:srgbClr val="C9CBF2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조은성 · 팀장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313432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이메일  eunseong@swappy.app</a:t>
            </a:r>
          </a:p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피부타입  수분팡팡 옹달샘</a:t>
            </a:r>
          </a:p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보유 화장품  2개</a:t>
            </a:r>
          </a:p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예산  4~7만원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0020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1783080"/>
            <a:ext cx="3246120" cy="411480"/>
          </a:xfrm>
          <a:prstGeom prst="roundRect">
            <a:avLst>
              <a:gd name="adj" fmla="val 50000"/>
            </a:avLst>
          </a:prstGeom>
          <a:solidFill>
            <a:srgbClr val="F6CBE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최동균 · 부팀장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13432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이메일  donggyun@swappy.app</a:t>
            </a:r>
          </a:p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피부타입  겉바속촉 수부지</a:t>
            </a:r>
          </a:p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보유 화장품  3개</a:t>
            </a:r>
          </a:p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예산  3~5만원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49039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3246120" cy="411480"/>
          </a:xfrm>
          <a:prstGeom prst="roundRect">
            <a:avLst>
              <a:gd name="adj" fmla="val 50000"/>
            </a:avLst>
          </a:prstGeom>
          <a:solidFill>
            <a:srgbClr val="C9CBF2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박주원 · 편집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62272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이메일  juwon@swappy.app</a:t>
            </a:r>
          </a:p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피부타입  반질반질 물개</a:t>
            </a:r>
          </a:p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보유 화장품  3개</a:t>
            </a:r>
          </a:p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예산  1.5~3.5만원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49039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26280" y="3931920"/>
            <a:ext cx="3246120" cy="411480"/>
          </a:xfrm>
          <a:prstGeom prst="roundRect">
            <a:avLst>
              <a:gd name="adj" fmla="val 50000"/>
            </a:avLst>
          </a:prstGeom>
          <a:solidFill>
            <a:srgbClr val="F6CBE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심유빈 · 학술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62272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이메일  yubin@swappy.app</a:t>
            </a:r>
          </a:p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피부타입  조심조심 유리구슬</a:t>
            </a:r>
          </a:p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보유 화장품  2개</a:t>
            </a:r>
          </a:p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예산  2.5~4.5만원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49039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21040" y="3931920"/>
            <a:ext cx="3246120" cy="411480"/>
          </a:xfrm>
          <a:prstGeom prst="roundRect">
            <a:avLst>
              <a:gd name="adj" fmla="val 50000"/>
            </a:avLst>
          </a:prstGeom>
          <a:solidFill>
            <a:srgbClr val="C9CBF2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김미송 · 총무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462272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이메일  misong@swappy.app</a:t>
            </a:r>
          </a:p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피부타입  바스락 사막</a:t>
            </a:r>
          </a:p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보유 화장품  5개</a:t>
            </a:r>
          </a:p>
          <a:p>
            <a:pPr>
              <a:spcAft>
                <a:spcPts val="300"/>
              </a:spcAft>
              <a:defRPr sz="1150">
                <a:solidFill>
                  <a:srgbClr val="1A1A1A"/>
                </a:solidFill>
                <a:latin typeface="맑은 고딕"/>
              </a:defRPr>
            </a:pPr>
            <a:r>
              <a:t>예산  5~8만원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맑은 고딕"/>
              </a:defRPr>
            </a:pPr>
            <a:r>
              <a:t>로그인 방법  ①데모 퀵버튼(권장)  ②이메일+swappy1234  ③게스트로 둘러보기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18288"/>
            <a:ext cx="347472" cy="347472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920000">
            <a:off x="822960" y="109728"/>
            <a:ext cx="77724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457200" cy="457200"/>
          </a:xfrm>
          <a:prstGeom prst="ellipse">
            <a:avLst/>
          </a:prstGeom>
          <a:solidFill>
            <a:srgbClr val="C51E6E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920000">
            <a:off x="10698480" y="6172200"/>
            <a:ext cx="86868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2200" b="1">
                <a:solidFill>
                  <a:srgbClr val="1A1A1A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 rot="19500000">
            <a:off x="566928" y="1170432"/>
            <a:ext cx="8229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38912"/>
            <a:ext cx="9692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1A1A1A"/>
                </a:solidFill>
                <a:latin typeface="맑은 고딕"/>
              </a:defRPr>
            </a:pPr>
            <a:r>
              <a:t>시나리오 흐름 — 5개 구간</a:t>
            </a:r>
          </a:p>
          <a:p>
            <a:pPr>
              <a:defRPr sz="1300">
                <a:solidFill>
                  <a:srgbClr val="5A5A5A"/>
                </a:solidFill>
                <a:latin typeface="맑은 고딕"/>
              </a:defRPr>
            </a:pPr>
            <a:r>
              <a:t>주인공: 게스트 → donggyun@swappy.app (최동균·부팀장), 다른 계정도 동일 흐름 재현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17520"/>
            <a:ext cx="1874519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C51E6E"/>
                </a:solidFill>
                <a:latin typeface="맑은 고딕"/>
              </a:defRPr>
            </a:pPr>
            <a:r>
              <a:t>구간 1</a:t>
            </a:r>
          </a:p>
          <a:p>
            <a:pPr algn="ctr">
              <a:defRPr sz="1050">
                <a:solidFill>
                  <a:srgbClr val="5A5A5A"/>
                </a:solidFill>
                <a:latin typeface="맑은 고딕"/>
              </a:defRPr>
            </a:pPr>
            <a:r>
              <a:t>비로그인</a:t>
            </a:r>
            <a:br/>
            <a:r>
              <a:t>둘러보기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502151"/>
            <a:ext cx="1828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017520"/>
            <a:ext cx="1874519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C51E6E"/>
                </a:solidFill>
                <a:latin typeface="맑은 고딕"/>
              </a:defRPr>
            </a:pPr>
            <a:r>
              <a:t>구간 2</a:t>
            </a:r>
          </a:p>
          <a:p>
            <a:pPr algn="ctr">
              <a:defRPr sz="1050">
                <a:solidFill>
                  <a:srgbClr val="5A5A5A"/>
                </a:solidFill>
                <a:latin typeface="맑은 고딕"/>
              </a:defRPr>
            </a:pPr>
            <a:r>
              <a:t>로그인 +</a:t>
            </a:r>
            <a:br/>
            <a:r>
              <a:t>피부타입 진단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502151"/>
            <a:ext cx="1828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017520"/>
            <a:ext cx="1874519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C51E6E"/>
                </a:solidFill>
                <a:latin typeface="맑은 고딕"/>
              </a:defRPr>
            </a:pPr>
            <a:r>
              <a:t>구간 3</a:t>
            </a:r>
          </a:p>
          <a:p>
            <a:pPr algn="ctr">
              <a:defRPr sz="1050">
                <a:solidFill>
                  <a:srgbClr val="5A5A5A"/>
                </a:solidFill>
                <a:latin typeface="맑은 고딕"/>
              </a:defRPr>
            </a:pPr>
            <a:r>
              <a:t>화장대 등록</a:t>
            </a:r>
            <a:br/>
            <a:r>
              <a:t>OCR·챗봇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502151"/>
            <a:ext cx="1828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3017520"/>
            <a:ext cx="1874519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C51E6E"/>
                </a:solidFill>
                <a:latin typeface="맑은 고딕"/>
              </a:defRPr>
            </a:pPr>
            <a:r>
              <a:t>구간 4</a:t>
            </a:r>
          </a:p>
          <a:p>
            <a:pPr algn="ctr">
              <a:defRPr sz="1050">
                <a:solidFill>
                  <a:srgbClr val="5A5A5A"/>
                </a:solidFill>
                <a:latin typeface="맑은 고딕"/>
              </a:defRPr>
            </a:pPr>
            <a:r>
              <a:t>개인화</a:t>
            </a:r>
            <a:br/>
            <a:r>
              <a:t>추천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502151"/>
            <a:ext cx="1828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017520"/>
            <a:ext cx="1874519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C51E6E"/>
                </a:solidFill>
                <a:latin typeface="맑은 고딕"/>
              </a:defRPr>
            </a:pPr>
            <a:r>
              <a:t>구간 5</a:t>
            </a:r>
          </a:p>
          <a:p>
            <a:pPr algn="ctr">
              <a:defRPr sz="1050">
                <a:solidFill>
                  <a:srgbClr val="5A5A5A"/>
                </a:solidFill>
                <a:latin typeface="맑은 고딕"/>
              </a:defRPr>
            </a:pPr>
            <a:r>
              <a:t>장바구니→구매</a:t>
            </a:r>
            <a:br/>
            <a:r>
              <a:t>→주문내역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846320"/>
            <a:ext cx="1033272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게스트 → 계정 진단 승계 시연: 먼저 게스트로 진단 완료 → 이후 로그인하면</a:t>
            </a:r>
            <a:br/>
            <a:r>
              <a:t>swappy:diag:v1:guest → swappy:diag:v1:&lt;persona&gt;로 승계된다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18288"/>
            <a:ext cx="347472" cy="347472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920000">
            <a:off x="822960" y="109728"/>
            <a:ext cx="77724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457200" cy="457200"/>
          </a:xfrm>
          <a:prstGeom prst="ellipse">
            <a:avLst/>
          </a:prstGeom>
          <a:solidFill>
            <a:srgbClr val="C51E6E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920000">
            <a:off x="10698480" y="6172200"/>
            <a:ext cx="86868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2200" b="1">
                <a:solidFill>
                  <a:srgbClr val="1A1A1A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 rot="19500000">
            <a:off x="566928" y="1170432"/>
            <a:ext cx="8229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38912"/>
            <a:ext cx="9692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1A1A1A"/>
                </a:solidFill>
                <a:latin typeface="맑은 고딕"/>
              </a:defRPr>
            </a:pPr>
            <a:r>
              <a:t>구간 1 · 비로그인으로 둘러보기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3736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664207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Splash /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앱 진입 → 스플래시 → 온보딩/로그인 유도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4460" y="22585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51E6E"/>
                </a:solidFill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4320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670048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Login → "로그인 없이 둘러보기"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continueAsGuest() → /home 이동, scope=guest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4460" y="326440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51E6E"/>
                </a:solidFill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49039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675887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Home 스크롤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기본 피부타입(옹달샘)·목업 기준 추천, 게스트도 캐러셀 열람 가능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4460" y="4270247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51E6E"/>
                </a:solidFill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754879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681727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ProductDetail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추천 카드 탭 → 전성분·상품정보, 상세는 게스트도 접근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18288"/>
            <a:ext cx="347472" cy="347472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920000">
            <a:off x="822960" y="109728"/>
            <a:ext cx="77724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457200" cy="457200"/>
          </a:xfrm>
          <a:prstGeom prst="ellipse">
            <a:avLst/>
          </a:prstGeom>
          <a:solidFill>
            <a:srgbClr val="C51E6E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920000">
            <a:off x="10698480" y="6172200"/>
            <a:ext cx="86868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2200" b="1">
                <a:solidFill>
                  <a:srgbClr val="1A1A1A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 rot="19500000">
            <a:off x="566928" y="1170432"/>
            <a:ext cx="8229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38912"/>
            <a:ext cx="9692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1A1A1A"/>
                </a:solidFill>
                <a:latin typeface="맑은 고딕"/>
              </a:defRPr>
            </a:pPr>
            <a:r>
              <a:t>구간 2 · 로그인 + 피부타입 진단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3736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664207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데모 퀵버튼 "최동균"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loginAs('donggyun') → /onboarding 이동, 화장대 3개 1회 시드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4460" y="22585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51E6E"/>
                </a:solidFill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4320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670048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6문항 응답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computeDiagnosis() → 5축 점수·8타입 순위, 답에 따라 결과가 실제로 달라짐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4460" y="326440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51E6E"/>
                </a:solidFill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49039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675887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결과 확인 → "추천받기"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saveDiagnosis() 저장 → /home 이동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4460" y="4270247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51E6E"/>
                </a:solidFill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754879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681727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Home 상단 배너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"게스트 진단을 계정으로 가져왔어요" — 게스트→계정 진단 승계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18288"/>
            <a:ext cx="347472" cy="347472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920000">
            <a:off x="822960" y="109728"/>
            <a:ext cx="77724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457200" cy="457200"/>
          </a:xfrm>
          <a:prstGeom prst="ellipse">
            <a:avLst/>
          </a:prstGeom>
          <a:solidFill>
            <a:srgbClr val="C51E6E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920000">
            <a:off x="10698480" y="6172200"/>
            <a:ext cx="86868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2200" b="1">
                <a:solidFill>
                  <a:srgbClr val="1A1A1A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 rot="19500000">
            <a:off x="566928" y="1170432"/>
            <a:ext cx="8229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38912"/>
            <a:ext cx="9692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1A1A1A"/>
                </a:solidFill>
                <a:latin typeface="맑은 고딕"/>
              </a:defRPr>
            </a:pPr>
            <a:r>
              <a:t>구간 3 · 내 화장품을 화장대에 등록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45920"/>
            <a:ext cx="5349240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19" y="1645920"/>
            <a:ext cx="5349240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82880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400" b="1">
                <a:solidFill>
                  <a:srgbClr val="1A1A1A"/>
                </a:solidFill>
                <a:latin typeface="맑은 고딕"/>
              </a:defRPr>
            </a:pPr>
            <a:r>
              <a:t>경로 A · OCR 스캔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19" y="182880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F6CBE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400" b="1">
                <a:solidFill>
                  <a:srgbClr val="1A1A1A"/>
                </a:solidFill>
                <a:latin typeface="맑은 고딕"/>
              </a:defRPr>
            </a:pPr>
            <a:r>
              <a:t>경로 B · 챗봇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5146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441448"/>
            <a:ext cx="3794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Closet → "제품 추가"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/scan 이동, 시드된 보유품 3개가 이미 보임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9008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51E6E"/>
                </a:solidFill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29184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218688"/>
            <a:ext cx="3794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셔터 탭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"성분을 읽는 중…" 1.4초 → 인식 결과 시트 (제품명+전성분 칩+안전/주의 카운트)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67327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51E6E"/>
                </a:solidFill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6908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995928"/>
            <a:ext cx="3794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"화장대에 추가"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addItem(addedVia:'scan') → 화장대에 "스캔 완료" 항목 생성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19" y="25146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441448"/>
            <a:ext cx="3794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"내 화장품 등록하기"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봇이 "브랜드+제품명 한 줄로" 요청, registerMode 진입 (서버 호출 없음)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299008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51E6E"/>
                </a:solidFill>
              </a:defRPr>
            </a:pPr>
            <a: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19" y="329184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218688"/>
            <a:ext cx="3794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예: "토리든 다이브인…50ml"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첫 어절=브랜드로 분리 → addItem(chatbot) → 화장대에 "챗봇으로 추가"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18288"/>
            <a:ext cx="347472" cy="347472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920000">
            <a:off x="822960" y="109728"/>
            <a:ext cx="77724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457200" cy="457200"/>
          </a:xfrm>
          <a:prstGeom prst="ellipse">
            <a:avLst/>
          </a:prstGeom>
          <a:solidFill>
            <a:srgbClr val="C51E6E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920000">
            <a:off x="10698480" y="6172200"/>
            <a:ext cx="86868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2200" b="1">
                <a:solidFill>
                  <a:srgbClr val="1A1A1A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 rot="19500000">
            <a:off x="566928" y="1170432"/>
            <a:ext cx="8229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38912"/>
            <a:ext cx="9692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1A1A1A"/>
                </a:solidFill>
                <a:latin typeface="맑은 고딕"/>
              </a:defRPr>
            </a:pPr>
            <a:r>
              <a:t>구간 4 · 피부타입 + 보유 화장품 반영 추천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01168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938528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Home 재진입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닉네임 + 진단 피부타입(수부지) 표시, 마스코트·경험치 바 반영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4460" y="253288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51E6E"/>
                </a:solidFill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5468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081528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"맞춤 추천 세트"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useRecommendations(skinType, 보유품) — 보유 화장품 제외, 서로 다른 카테고리 3종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4460" y="3675887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51E6E"/>
                </a:solidFill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9768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16-17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4224528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"더보기" → Alternatives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화장대 항목 기준 대체품 화면 — 유사도%/절약률/피부궁합 배지 표시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18288"/>
            <a:ext cx="347472" cy="347472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920000">
            <a:off x="822960" y="109728"/>
            <a:ext cx="77724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457200" cy="457200"/>
          </a:xfrm>
          <a:prstGeom prst="ellipse">
            <a:avLst/>
          </a:prstGeom>
          <a:solidFill>
            <a:srgbClr val="C51E6E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920000">
            <a:off x="10698480" y="6172200"/>
            <a:ext cx="86868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2200" b="1">
                <a:solidFill>
                  <a:srgbClr val="1A1A1A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 rot="19500000">
            <a:off x="566928" y="1170432"/>
            <a:ext cx="8229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38912"/>
            <a:ext cx="9692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1A1A1A"/>
                </a:solidFill>
                <a:latin typeface="맑은 고딕"/>
              </a:defRPr>
            </a:pPr>
            <a:r>
              <a:t>구간 5 · 장바구니 → 구매 → 주문내역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3736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664207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추천 세트 "장바구니에 담기"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CartContext.addToCart → /cart, 앱바 장바구니 뱃지 숫자 증가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4460" y="22585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51E6E"/>
                </a:solidFill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4320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670048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ProductDetail "바로 구매"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상세 화면에서도 담기 동작 → /cart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4460" y="326440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51E6E"/>
                </a:solidFill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49039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675887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Cart "구매하기"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checkout() → 주문 생성, 장바구니 비움 → 주문 완료 화면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4460" y="4270247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51E6E"/>
                </a:solidFill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754879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681727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1A1A"/>
                </a:solidFill>
                <a:latin typeface="맑은 고딕"/>
              </a:defRPr>
            </a:pPr>
            <a:r>
              <a:t>"주문내역 보기"</a:t>
            </a:r>
          </a:p>
          <a:p>
            <a:pPr>
              <a:defRPr sz="1150">
                <a:solidFill>
                  <a:srgbClr val="5A5A5A"/>
                </a:solidFill>
                <a:latin typeface="맑은 고딕"/>
              </a:defRPr>
            </a:pPr>
            <a:r>
              <a:t>/mypage/order-history — 방금 구매한 주문이 목록 최상단에 표시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18288"/>
            <a:ext cx="347472" cy="347472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920000">
            <a:off x="822960" y="109728"/>
            <a:ext cx="77724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457200" cy="457200"/>
          </a:xfrm>
          <a:prstGeom prst="ellipse">
            <a:avLst/>
          </a:prstGeom>
          <a:solidFill>
            <a:srgbClr val="C51E6E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920000">
            <a:off x="10698480" y="6172200"/>
            <a:ext cx="86868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2200" b="1">
                <a:solidFill>
                  <a:srgbClr val="1A1A1A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 rot="19500000">
            <a:off x="566928" y="1170432"/>
            <a:ext cx="8229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38912"/>
            <a:ext cx="9692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1A1A1A"/>
                </a:solidFill>
                <a:latin typeface="맑은 고딕"/>
              </a:defRPr>
            </a:pPr>
            <a:r>
              <a:t>부록 · 백엔드 시드 &amp; 남은 한계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783080"/>
            <a:ext cx="4800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C51E6E"/>
                </a:solidFill>
                <a:latin typeface="맑은 고딕"/>
              </a:defRPr>
            </a:pPr>
            <a:r>
              <a:t>백엔드 시드 (선택 · 논문/DB 확인용)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맑은 고딕"/>
              </a:defRPr>
            </a:pPr>
            <a:r>
              <a:t>• 프론트 데모엔 불필요 — "통합 DB에 진단까지 들어간</a:t>
            </a:r>
            <a:br/>
            <a:r>
              <a:t>실사용자"를 보여줄 때 사용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맑은 고딕"/>
              </a:defRPr>
            </a:pPr>
            <a:r>
              <a:t>• python scripts/seed_test_users.py --dry-run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맑은 고딕"/>
              </a:defRPr>
            </a:pPr>
            <a:r>
              <a:t>• python scripts/seed_test_users.py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맑은 고딕"/>
              </a:defRPr>
            </a:pPr>
            <a:r>
              <a:t>• personas.json을 그대로 읽어 프론트와 같은 사람을 DB에 심음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맑은 고딕"/>
              </a:defRPr>
            </a:pPr>
            <a:r>
              <a:t>• users(bcrypt) · profiles · diagnoses + diagnosis_ranks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19" y="1600200"/>
            <a:ext cx="534924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39" y="1783080"/>
            <a:ext cx="4800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C51E6E"/>
                </a:solidFill>
                <a:latin typeface="맑은 고딕"/>
              </a:defRPr>
            </a:pPr>
            <a:r>
              <a:t>남은 한계 (시연 전 알고 있어야 할 것)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맑은 고딕"/>
              </a:defRPr>
            </a:pPr>
            <a:r>
              <a:t>• 전부 localStorage 기반 — 기기·브라우저 이동 시 상태 유지 안됨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맑은 고딕"/>
              </a:defRPr>
            </a:pPr>
            <a:r>
              <a:t>• 유사도/대체품 추천은 목업 (선케어 147건만 실적재)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맑은 고딕"/>
              </a:defRPr>
            </a:pPr>
            <a:r>
              <a:t>• OCR은 준비된 결과 순환 (실제 인식 아님, Task 4 미연동)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맑은 고딕"/>
              </a:defRPr>
            </a:pPr>
            <a:r>
              <a:t>• 로그인은 프론트 대조 — 백엔드 JWT(Task 12) 미연결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맑은 고딕"/>
              </a:defRPr>
            </a:pPr>
            <a:r>
              <a:t>• 결제는 흉내 (PG 미연동), 목업 폴백은 12종 풀로 제한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-320040"/>
            <a:ext cx="1371600" cy="1371600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500000">
            <a:off x="1463040" y="822960"/>
            <a:ext cx="1463040" cy="317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989320"/>
            <a:ext cx="1371600" cy="1371600"/>
          </a:xfrm>
          <a:prstGeom prst="ellipse">
            <a:avLst/>
          </a:prstGeom>
          <a:solidFill>
            <a:srgbClr val="C51E6E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500000">
            <a:off x="9966960" y="5623560"/>
            <a:ext cx="1463040" cy="317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2200" b="1">
                <a:solidFill>
                  <a:srgbClr val="1A1A1A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 rot="19500000">
            <a:off x="566928" y="1170432"/>
            <a:ext cx="8229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38912"/>
            <a:ext cx="9692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1A1A1A"/>
                </a:solidFill>
                <a:latin typeface="맑은 고딕"/>
              </a:defRPr>
            </a:pPr>
            <a:r>
              <a:t>질문과 답변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0" b="1">
                <a:solidFill>
                  <a:srgbClr val="C51E6E"/>
                </a:solidFill>
                <a:latin typeface="맑은 고딕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-320040"/>
            <a:ext cx="1371600" cy="1371600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500000">
            <a:off x="1463040" y="822960"/>
            <a:ext cx="1463040" cy="317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989320"/>
            <a:ext cx="1371600" cy="1371600"/>
          </a:xfrm>
          <a:prstGeom prst="ellipse">
            <a:avLst/>
          </a:prstGeom>
          <a:solidFill>
            <a:srgbClr val="C51E6E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500000">
            <a:off x="9966960" y="5623560"/>
            <a:ext cx="1463040" cy="317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C51E6E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맑은 고딕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