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게스트로 둘러보다가 로그인하며 피부타입을 진단하고, 화장대에 내 화장품을 등록한 뒤, 피부타입·보유 화장품을 반영한 추천으로 장바구니 구매까지 이어지는 데모입니다. npm run dev만으로 시연할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[발표 멘트] "먼저 가입 없이 들어와서 제품 목록과 전성분부터 볼 수 있습니다."
목표: 로그인 장벽 없이 카탈로그·상세를 열람할 수 있다는 것을 보여준다.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[발표 멘트] "답을 바꾸면 결과 타입이 달라집니다. 로그인 전에 해둔 진단도 계정으로 승계됩니다."
목표: 6문항 응답이 실제로 결과 타입을 바꾸고, 게스트 때의 진단이 계정으로 이어지는 것을 보여준다.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[발표 멘트] "라벨을 찍거나, 챗봇에 한 줄만 써도 내 화장대에 등록됩니다."
목표: OCR 스캔과 챗봇, 두 가지 경로로 보유 화장품을 등록하는 것을 보여준다.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[발표 멘트] "이미 가진 제품은 빠지고, 내 피부타입에 맞는 서로 다른 카테고리 3종이 세트로 나옵니다."
목표: 진단 결과와 화장대가 홈 추천에 실제로 반영되는 것을 보여준다.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[발표 멘트] "추천 세트를 한 번에 담아 구매하면, 주문내역 맨 위에 바로 기록됩니다."
목표: 추천에서 구매까지 이어지고, 방금 산 주문이 주문내역에 남는 것을 보여준다.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2011680"/>
            <a:ext cx="4754880" cy="4754880"/>
          </a:xfrm>
          <a:prstGeom prst="ellipse">
            <a:avLst/>
          </a:prstGeom>
          <a:solidFill>
            <a:srgbClr val="BE117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645920"/>
            <a:ext cx="3108960" cy="3108960"/>
          </a:xfrm>
          <a:prstGeom prst="ellipse">
            <a:avLst/>
          </a:prstGeom>
          <a:solidFill>
            <a:srgbClr val="CDEEF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DE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SWAPPY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77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시나리오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게스트 탐색부터 구매까지, 한 줄기 데모 시나리오 (조 감독 시연)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21스텝 · 5구간 · 테스트 계정 6종 · 백엔드 없이 프론트만으로 시연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CDEE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9260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한눈에 보기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7863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게스트로 둘러보다가 로그인 · 진단 · 화장대 등록 · 맞춤 추천 · 구매까지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457200"/>
            <a:ext cx="914400" cy="310896"/>
          </a:xfrm>
          <a:prstGeom prst="rect">
            <a:avLst/>
          </a:prstGeom>
          <a:solidFill>
            <a:srgbClr val="EFEFEF"/>
          </a:solidFill>
          <a:ln w="1270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74066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572768"/>
            <a:ext cx="1371600" cy="438912"/>
          </a:xfrm>
          <a:prstGeom prst="rect">
            <a:avLst/>
          </a:prstGeom>
          <a:solidFill>
            <a:srgbClr val="E9E9E9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GUEST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14904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비로그인으로 둘러보기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240280" y="183794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Splash → Login → Home → Detail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16002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스텝 #1–4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313432"/>
            <a:ext cx="74066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468880"/>
            <a:ext cx="1371600" cy="438912"/>
          </a:xfrm>
          <a:prstGeom prst="rect">
            <a:avLst/>
          </a:prstGeom>
          <a:solidFill>
            <a:srgbClr val="7E8FD4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240280" y="238658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+ 피부타입 진단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240280" y="273405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Login → Onboarding → Result → Home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49631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스텝 #5–8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209544"/>
            <a:ext cx="74066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364992"/>
            <a:ext cx="1371600" cy="438912"/>
          </a:xfrm>
          <a:prstGeom prst="rect">
            <a:avLst/>
          </a:prstGeom>
          <a:solidFill>
            <a:srgbClr val="BE117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240280" y="32826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화장품을 화장대에 등록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2240280" y="36301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Closet → Scan / 챗봇 → Closet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339242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스텝 #9–13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105656"/>
            <a:ext cx="74066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261104"/>
            <a:ext cx="1371600" cy="438912"/>
          </a:xfrm>
          <a:prstGeom prst="rect">
            <a:avLst/>
          </a:prstGeom>
          <a:solidFill>
            <a:srgbClr val="CDEEF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4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MATCH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240280" y="41788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피부타입 + 보유 화장품 반영 추천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2240280" y="45262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 → Alternatives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428853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스텝 #14–17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001768"/>
            <a:ext cx="74066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5157216"/>
            <a:ext cx="1371600" cy="438912"/>
          </a:xfrm>
          <a:prstGeom prst="rect">
            <a:avLst/>
          </a:prstGeom>
          <a:solidFill>
            <a:srgbClr val="CFEFC7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7A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CART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2240280" y="5074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장바구니 → 구매 → 주문내역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2240280" y="542239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 → Detail → Cart → 주문내역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0" y="51846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스텝 #18–21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321040" y="1417320"/>
            <a:ext cx="1106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E1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400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2103120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스텝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427464" y="1417320"/>
            <a:ext cx="1106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E1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4000" dirty="0"/>
          </a:p>
        </p:txBody>
      </p:sp>
      <p:sp>
        <p:nvSpPr>
          <p:cNvPr id="35" name="Text 33"/>
          <p:cNvSpPr txBox="1"/>
          <p:nvPr/>
        </p:nvSpPr>
        <p:spPr>
          <a:xfrm>
            <a:off x="9427464" y="2103120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10533888" y="1417320"/>
            <a:ext cx="1106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E1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4000" dirty="0"/>
          </a:p>
        </p:txBody>
      </p:sp>
      <p:sp>
        <p:nvSpPr>
          <p:cNvPr id="37" name="Text 35"/>
          <p:cNvSpPr txBox="1"/>
          <p:nvPr/>
        </p:nvSpPr>
        <p:spPr>
          <a:xfrm>
            <a:off x="10533888" y="2103120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계정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321040" y="2697480"/>
            <a:ext cx="3319272" cy="3200400"/>
          </a:xfrm>
          <a:prstGeom prst="roundRect">
            <a:avLst>
              <a:gd name="adj" fmla="val 3429"/>
            </a:avLst>
          </a:prstGeom>
          <a:solidFill>
            <a:srgbClr val="F7F4E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54964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주인공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549640" y="3108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최동균</a:t>
            </a:r>
            <a:endParaRPr lang="en-US" sz="2200" dirty="0"/>
          </a:p>
        </p:txBody>
      </p:sp>
      <p:sp>
        <p:nvSpPr>
          <p:cNvPr id="41" name="Text 39"/>
          <p:cNvSpPr txBox="1"/>
          <p:nvPr/>
        </p:nvSpPr>
        <p:spPr>
          <a:xfrm>
            <a:off x="8549640" y="3566160"/>
            <a:ext cx="1554480" cy="292608"/>
          </a:xfrm>
          <a:prstGeom prst="rect">
            <a:avLst/>
          </a:prstGeom>
          <a:solidFill>
            <a:srgbClr val="CDEE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겉바속촉 수부지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8549640" y="40690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9601200" y="4069080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부팀장 · 상품 데이터 · DB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8549640" y="44348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9601200" y="4434840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donggyun@swappy.app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8549640" y="4800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보유 화장품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9601200" y="4800600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(시드 등록)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8549640" y="51663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9601200" y="5166360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3~5만원</a:t>
            </a:r>
            <a:endParaRPr lang="en-US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8549640" y="553212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5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화면의 데모 퀵버튼으로 즉시 로그인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CDEE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9260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계정 · 페르소나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7863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구성과 동일 인물 · 역할 — 게스트 포함 6종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457200"/>
            <a:ext cx="914400" cy="310896"/>
          </a:xfrm>
          <a:prstGeom prst="rect">
            <a:avLst/>
          </a:prstGeom>
          <a:solidFill>
            <a:srgbClr val="EFEFEF"/>
          </a:solidFill>
          <a:ln w="1270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9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874520"/>
                <a:gridCol w="2148840"/>
                <a:gridCol w="1645920"/>
                <a:gridCol w="3291840"/>
                <a:gridCol w="1078992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이메일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피부타입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화장품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게스트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(로그인 안 함)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미정 (기본 옹달샘)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조은성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팀장 · 프론트엔드 통합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eunseong@swappy.app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수분팡팡 옹달샘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2개 · 라운드랩 독도 토너 / 이니스프리 그린티 세럼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4~7만원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최동균 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부팀장 · 상품 데이터 · DB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donggyun@swappy.app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겉바속촉 수부지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3개 · 이니스프리 토너 / 에스트라 아토베리어 크림 / 닥터지 레드블레미쉬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3~5만원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박주원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편집 · 백엔드 · RAG 챗봇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juwon@swappy.app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반질반질 물개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3개 · 코스알엑스 토너 / 브링그린 시카 세럼 / 라운드랩 클렌징폼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1.5~3.5만원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심유빈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학술 · OCR · UI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yubin@swappy.app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조심조심 유리구슬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2개 · 아벤느 시칼파 크림 / 라로슈포제 시카플라스트 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2.5~4.5만원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김미송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총무 · UI/UX · 피부진단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misong@swappy.app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바스락 사막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5개 · 바이오더마 · 라운드랩 · 토리든 · 라로슈포제 · 웰라쥬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5~8만원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440680"/>
            <a:ext cx="6766560" cy="960120"/>
          </a:xfrm>
          <a:prstGeom prst="roundRect">
            <a:avLst>
              <a:gd name="adj" fmla="val 9524"/>
            </a:avLst>
          </a:prstGeom>
          <a:solidFill>
            <a:srgbClr val="F7F4EF"/>
          </a:solidFill>
          <a:ln w="12700">
            <a:solidFill>
              <a:srgbClr val="E3DDD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544068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3가지 방법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데모 퀵버튼 (시연 권장)   ② 이메일 + 비밀번호   ③ "로그인 없이 둘러보기"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543800" y="5440680"/>
            <a:ext cx="4096512" cy="960120"/>
          </a:xfrm>
          <a:prstGeom prst="roundRect">
            <a:avLst>
              <a:gd name="adj" fmla="val 9524"/>
            </a:avLst>
          </a:prstGeom>
          <a:solidFill>
            <a:srgbClr val="FFF3E0"/>
          </a:solidFill>
          <a:ln w="12700">
            <a:solidFill>
              <a:srgbClr val="F0C77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26680" y="5440680"/>
            <a:ext cx="3730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5C42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 전부 swappy1234 · 이메일 전부 @swappy.app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5C42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원본: frontend/src/data/personas.json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CDEE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9260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 1 · 비로그인으로 둘러보기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7863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 감독 시나리오 · 스텝 #1–4 · Splash → Login → Home → Detail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457200"/>
            <a:ext cx="914400" cy="310896"/>
          </a:xfrm>
          <a:prstGeom prst="rect">
            <a:avLst/>
          </a:prstGeom>
          <a:solidFill>
            <a:srgbClr val="EFEFEF"/>
          </a:solidFill>
          <a:ln w="1270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6675120" cy="777240"/>
          </a:xfrm>
          <a:prstGeom prst="roundRect">
            <a:avLst>
              <a:gd name="adj" fmla="val 11765"/>
            </a:avLst>
          </a:prstGeom>
          <a:solidFill>
            <a:srgbClr val="F7F4EF"/>
          </a:solidFill>
          <a:ln w="12700">
            <a:solidFill>
              <a:srgbClr val="E3DD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399032"/>
            <a:ext cx="1005840" cy="292608"/>
          </a:xfrm>
          <a:prstGeom prst="rect">
            <a:avLst/>
          </a:prstGeom>
          <a:solidFill>
            <a:srgbClr val="E9E9E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GUEST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874520" y="128016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장벽 없이 카탈로그·상세를 열람할 수 있다는 것을 보여준다.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52360" y="1280160"/>
            <a:ext cx="4187952" cy="777240"/>
          </a:xfrm>
          <a:prstGeom prst="roundRect">
            <a:avLst>
              <a:gd name="adj" fmla="val 11765"/>
            </a:avLst>
          </a:prstGeom>
          <a:solidFill>
            <a:srgbClr val="FFF3E0"/>
          </a:solidFill>
          <a:ln w="12700">
            <a:solidFill>
              <a:srgbClr val="F0C7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35240" y="1280160"/>
            <a:ext cx="3822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7A5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멘트 예시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5C42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"먼저 가입 없이 들어와서 제품 목록과 전성분부터 볼 수 있습니다."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9167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103120"/>
                <a:gridCol w="2468880"/>
                <a:gridCol w="3749040"/>
                <a:gridCol w="2313432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액션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 반응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포인트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Splash /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진입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스플래시 → 온보딩/로그인 유도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Login /login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"로그인 없이 둘러보기" 탭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continueAsGuest() → /home 이동, scope=guest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없이 홈에 진입됨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Home /home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스크롤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추천은 기본 피부타입(옹달샘)·목업 기준. 대시보드는 목업 프로필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게스트도 카탈로그·대체품 캐러셀 열람 가능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ProductDetail /detail/:id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 카드 탭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전성분·상품정보 표시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상세 화면은 게스트도 접근 가능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48640" y="585216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FF3E0"/>
          </a:solidFill>
          <a:ln w="12700">
            <a:solidFill>
              <a:srgbClr val="F0C77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5980176"/>
            <a:ext cx="1188720" cy="292608"/>
          </a:xfrm>
          <a:prstGeom prst="rect">
            <a:avLst/>
          </a:prstGeom>
          <a:solidFill>
            <a:srgbClr val="FCE29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5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2103120" y="5852160"/>
            <a:ext cx="9354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목록은 백엔드가 없으면 목업으로 자동 폴백 (useProducts → isMock). 백엔드를 함께 띄우면 DB의 실제 제품이 나온다.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CDEE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9260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 2 · 로그인 + 피부타입 진단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7863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 감독 시나리오 · 스텝 #5–8 · Login → Onboarding → Result → Home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457200"/>
            <a:ext cx="914400" cy="310896"/>
          </a:xfrm>
          <a:prstGeom prst="rect">
            <a:avLst/>
          </a:prstGeom>
          <a:solidFill>
            <a:srgbClr val="EFEFEF"/>
          </a:solidFill>
          <a:ln w="1270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6675120" cy="777240"/>
          </a:xfrm>
          <a:prstGeom prst="roundRect">
            <a:avLst>
              <a:gd name="adj" fmla="val 11765"/>
            </a:avLst>
          </a:prstGeom>
          <a:solidFill>
            <a:srgbClr val="F7F4EF"/>
          </a:solidFill>
          <a:ln w="12700">
            <a:solidFill>
              <a:srgbClr val="E3DD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399032"/>
            <a:ext cx="1005840" cy="292608"/>
          </a:xfrm>
          <a:prstGeom prst="rect">
            <a:avLst/>
          </a:prstGeom>
          <a:solidFill>
            <a:srgbClr val="7E8FD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874520" y="128016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6문항 응답이 실제로 결과 타입을 바꾸고, 게스트 때의 진단이 계정으로 이어지는 것을 보여준다.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52360" y="1280160"/>
            <a:ext cx="4187952" cy="777240"/>
          </a:xfrm>
          <a:prstGeom prst="roundRect">
            <a:avLst>
              <a:gd name="adj" fmla="val 11765"/>
            </a:avLst>
          </a:prstGeom>
          <a:solidFill>
            <a:srgbClr val="FFF3E0"/>
          </a:solidFill>
          <a:ln w="12700">
            <a:solidFill>
              <a:srgbClr val="F0C7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35240" y="1280160"/>
            <a:ext cx="3822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7A5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멘트 예시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5C42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"답을 바꾸면 결과 타입이 달라집니다. 로그인 전에 해둔 진단도 계정으로 승계됩니다."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9167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103120"/>
                <a:gridCol w="2468880"/>
                <a:gridCol w="3749040"/>
                <a:gridCol w="2313432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액션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 반응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포인트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8F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Login /login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데모 퀵버튼 "최동균" (또는 이메일 로그인)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loginAs('donggyun') → scope=donggyun. 화장대가 페르소나 보유품 3개로 1회 시드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후 /onboarding으로 이동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8F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Onboarding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"피부타입 몰라요" → 6문항 응답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마지막 문항의 답 배열이 computeDiagnosis()로 전달 → 5축 점수·8타입 순위 산출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답에 따라 결과 타입이 실제로 달라짐 (하드코딩 아님)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8F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Result 카드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확인 → "추천받기"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saveDiagnosis({source:'quiz'}) → swappy:diag:v1:donggyun 저장, /home 이동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1·2·3순위와 5축 점수가 결과에 반영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8F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Home 상단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(게스트 상태에서 먼저 진단한 경우) "로그인 전 진단한 피부타입을 계정으로 가져왔어요" 배너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게스트 → 계정 진단 승계 (guest_token 승계 설계 재현)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48640" y="585216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FF3E0"/>
          </a:solidFill>
          <a:ln w="12700">
            <a:solidFill>
              <a:srgbClr val="F0C77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5980176"/>
            <a:ext cx="1188720" cy="292608"/>
          </a:xfrm>
          <a:prstGeom prst="rect">
            <a:avLst/>
          </a:prstGeom>
          <a:solidFill>
            <a:srgbClr val="FCE29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5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승계 시연 팁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2103120" y="5852160"/>
            <a:ext cx="9354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게스트로 /onboarding 진단을 끝낸 뒤 로그인한다. swappy:diag:v1:guest가 swappy:diag:v1:&lt;persona&gt;로 옮겨지고 게스트 사본은 삭제된다.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CDEE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9260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 3 · 내 화장품을 화장대에 등록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7863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 감독 시나리오 · 스텝 #9–13 · Closet → Scan / 챗봇 → Closet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457200"/>
            <a:ext cx="914400" cy="310896"/>
          </a:xfrm>
          <a:prstGeom prst="rect">
            <a:avLst/>
          </a:prstGeom>
          <a:solidFill>
            <a:srgbClr val="EFEFEF"/>
          </a:solidFill>
          <a:ln w="1270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6675120" cy="777240"/>
          </a:xfrm>
          <a:prstGeom prst="roundRect">
            <a:avLst>
              <a:gd name="adj" fmla="val 11765"/>
            </a:avLst>
          </a:prstGeom>
          <a:solidFill>
            <a:srgbClr val="F7F4EF"/>
          </a:solidFill>
          <a:ln w="12700">
            <a:solidFill>
              <a:srgbClr val="E3DD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399032"/>
            <a:ext cx="1005840" cy="292608"/>
          </a:xfrm>
          <a:prstGeom prst="rect">
            <a:avLst/>
          </a:prstGeom>
          <a:solidFill>
            <a:srgbClr val="BE117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874520" y="128016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 스캔과 챗봇, 두 가지 경로로 보유 화장품을 등록하는 것을 보여준다.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52360" y="1280160"/>
            <a:ext cx="4187952" cy="777240"/>
          </a:xfrm>
          <a:prstGeom prst="roundRect">
            <a:avLst>
              <a:gd name="adj" fmla="val 11765"/>
            </a:avLst>
          </a:prstGeom>
          <a:solidFill>
            <a:srgbClr val="FFF3E0"/>
          </a:solidFill>
          <a:ln w="12700">
            <a:solidFill>
              <a:srgbClr val="F0C7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35240" y="1280160"/>
            <a:ext cx="3822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7A5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멘트 예시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5C42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"라벨을 찍거나, 챗봇에 한 줄만 써도 내 화장대에 등록됩니다."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9167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103120"/>
                <a:gridCol w="2468880"/>
                <a:gridCol w="3749040"/>
                <a:gridCol w="2313432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액션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 반응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포인트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1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Closet /closet → "제품 추가"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스캔 화면으로 이동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/scan 진입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시드된 보유품 3개가 이미 보임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1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Scan /scan (경로 A · OCR)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셔터 탭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"성분을 읽는 중…" 1.4초 → 인식 결과 시트 (제품명 + 전성분 칩 + 안전/주의 카운트)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data/ocrFixtures.ts의 준비된 결과가 순환 반환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1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시트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"화장대에 추가"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ClosetContext.addItem({addedVia:'scan', status:'scanned'}) → /closet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"스캔 완료 · OCR 스캔으로 추가" 항목 생성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1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챗봇 /mypage/chat-support (경로 B)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"🧴 내 화장품 등록하기" 버튼 (또는 "화장품 등록" 입력)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봇이 "브랜드와 제품명을 한 줄로" 요청, registerMode 진입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호출 없이 로컬 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1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챗봇 입력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토리든 다이브인 저분자 히알루론산 세럼 50ml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어절=브랜드로 분리 → addItem({addedVia:'chatbot'}) → "화장대에 추가했어요" + "내 화장대 보기"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화장대에 "챗봇으로 추가" 항목 생성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48640" y="585216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FF3E0"/>
          </a:solidFill>
          <a:ln w="12700">
            <a:solidFill>
              <a:srgbClr val="F0C77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5980176"/>
            <a:ext cx="1188720" cy="292608"/>
          </a:xfrm>
          <a:prstGeom prst="rect">
            <a:avLst/>
          </a:prstGeom>
          <a:solidFill>
            <a:srgbClr val="FCE29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5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2103120" y="5852160"/>
            <a:ext cx="9354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OCR은 실제 인식이 아니라 준비된 결과 순환이다 (Task 4 미연동). 발표에서는 "인식 모듈 연동 전 시뮬레이션"이라고 밝혀 두는 편이 안전하다.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CDEE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9260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 4 · 피부타입 + 보유 화장품 반영 추천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7863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 감독 시나리오 · 스텝 #14–17 · Home → Alternatives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457200"/>
            <a:ext cx="914400" cy="310896"/>
          </a:xfrm>
          <a:prstGeom prst="rect">
            <a:avLst/>
          </a:prstGeom>
          <a:solidFill>
            <a:srgbClr val="EFEFEF"/>
          </a:solidFill>
          <a:ln w="1270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6675120" cy="777240"/>
          </a:xfrm>
          <a:prstGeom prst="roundRect">
            <a:avLst>
              <a:gd name="adj" fmla="val 11765"/>
            </a:avLst>
          </a:prstGeom>
          <a:solidFill>
            <a:srgbClr val="F7F4EF"/>
          </a:solidFill>
          <a:ln w="12700">
            <a:solidFill>
              <a:srgbClr val="E3DD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399032"/>
            <a:ext cx="1005840" cy="292608"/>
          </a:xfrm>
          <a:prstGeom prst="rect">
            <a:avLst/>
          </a:prstGeom>
          <a:solidFill>
            <a:srgbClr val="CDEE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4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MATCH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874520" y="128016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결과와 화장대가 홈 추천에 실제로 반영되는 것을 보여준다.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52360" y="1280160"/>
            <a:ext cx="4187952" cy="777240"/>
          </a:xfrm>
          <a:prstGeom prst="roundRect">
            <a:avLst>
              <a:gd name="adj" fmla="val 11765"/>
            </a:avLst>
          </a:prstGeom>
          <a:solidFill>
            <a:srgbClr val="FFF3E0"/>
          </a:solidFill>
          <a:ln w="12700">
            <a:solidFill>
              <a:srgbClr val="F0C7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35240" y="1280160"/>
            <a:ext cx="3822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7A5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멘트 예시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5C42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"이미 가진 제품은 빠지고, 내 피부타입에 맞는 서로 다른 카테고리 3종이 세트로 나옵니다."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9167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103120"/>
                <a:gridCol w="2468880"/>
                <a:gridCol w="3749040"/>
                <a:gridCol w="2313432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액션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 반응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포인트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4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Home /home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새로고침 / 재진입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대시보드가 최동균 닉네임 + 진단 피부타입(수부지)으로 표시. 마스코트·경험치 바 반영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로그인·진단이 홈에 연결됨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4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Home "🎯 …맞춤 추천 세트"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useRecommendations(skinType, 보유품) — 피부타입 선호 키워드로 점수화, 보유 화장품 제외, 서로 다른 카테고리 3종 + 세트 합계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중인 제품이 추천에서 빠짐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4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Home "🧴 내 화장대와 비슷한 추천" / "💰 더 저렴한 대체품"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"더보기" 탭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/alternatives?seed=&lt;화장대 항목 id&gt;&amp;from=home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화장대 항목 기준으로 대체품 화면 진입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4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Alternatives /alternatives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유사도·가격·궁합 태그 확인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유사도 % / 절약률 / 피부 궁합 배지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대체품 추천 근거가 표시됨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48640" y="585216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FF3E0"/>
          </a:solidFill>
          <a:ln w="12700">
            <a:solidFill>
              <a:srgbClr val="F0C77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5980176"/>
            <a:ext cx="1188720" cy="292608"/>
          </a:xfrm>
          <a:prstGeom prst="rect">
            <a:avLst/>
          </a:prstGeom>
          <a:solidFill>
            <a:srgbClr val="FCE29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5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2103120" y="5852160"/>
            <a:ext cx="9354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유사도 엔진은 아직 목업이다 (similarities 테이블은 선케어 147건만 실적재). 추천 다양성도 목업 풀 12종으로 제한되며, 백엔드를 띄우면 실제 DB에서 추천된다.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CDEE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9260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 5 · 장바구니 → 구매 → 주문내역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7863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 감독 시나리오 · 스텝 #18–21 · Home → Detail → Cart → 주문내역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457200"/>
            <a:ext cx="914400" cy="310896"/>
          </a:xfrm>
          <a:prstGeom prst="rect">
            <a:avLst/>
          </a:prstGeom>
          <a:solidFill>
            <a:srgbClr val="EFEFEF"/>
          </a:solidFill>
          <a:ln w="1270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6675120" cy="777240"/>
          </a:xfrm>
          <a:prstGeom prst="roundRect">
            <a:avLst>
              <a:gd name="adj" fmla="val 11765"/>
            </a:avLst>
          </a:prstGeom>
          <a:solidFill>
            <a:srgbClr val="F7F4EF"/>
          </a:solidFill>
          <a:ln w="12700">
            <a:solidFill>
              <a:srgbClr val="E3DD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399032"/>
            <a:ext cx="1005840" cy="292608"/>
          </a:xfrm>
          <a:prstGeom prst="rect">
            <a:avLst/>
          </a:prstGeom>
          <a:solidFill>
            <a:srgbClr val="CFEFC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7A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874520" y="128016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추천에서 구매까지 이어지고, 방금 산 주문이 주문내역에 남는 것을 보여준다.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52360" y="1280160"/>
            <a:ext cx="4187952" cy="777240"/>
          </a:xfrm>
          <a:prstGeom prst="roundRect">
            <a:avLst>
              <a:gd name="adj" fmla="val 11765"/>
            </a:avLst>
          </a:prstGeom>
          <a:solidFill>
            <a:srgbClr val="FFF3E0"/>
          </a:solidFill>
          <a:ln w="12700">
            <a:solidFill>
              <a:srgbClr val="F0C7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35240" y="1280160"/>
            <a:ext cx="3822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7A5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멘트 예시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5C42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"추천 세트를 한 번에 담아 구매하면, 주문내역 맨 위에 바로 기록됩니다."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9167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103120"/>
                <a:gridCol w="2468880"/>
                <a:gridCol w="3749040"/>
                <a:gridCol w="2313432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액션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 반응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포인트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7A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F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Home 추천 세트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"장바구니에 담기"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세트 3종을 CartContext.addToCart → /cart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상단 앱바 장바구니 뱃지 숫자 증가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7A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F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ProductDetail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"장바구니" 또는 "바로 구매"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제품 담기 → /cart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상세 화면에서도 담기 동작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7A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F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Cart /cart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수량 조절 / 삭제 확인 → "구매하기"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checkout() → 주문 생성 (swappy:orders:v1:&lt;scope&gt;), 장바구니 비움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완료 화면 + 주문번호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7A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F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완료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"주문내역 보기"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/mypage/order-history 이동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방금 구매한 주문이 목록 최상단. 예시 주문은 그 아래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48640" y="585216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FF3E0"/>
          </a:solidFill>
          <a:ln w="12700">
            <a:solidFill>
              <a:srgbClr val="F0C77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5980176"/>
            <a:ext cx="1188720" cy="292608"/>
          </a:xfrm>
          <a:prstGeom prst="rect">
            <a:avLst/>
          </a:prstGeom>
          <a:solidFill>
            <a:srgbClr val="FCE29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5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2103120" y="5852160"/>
            <a:ext cx="9354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결제는 checkout()이 주문내역으로 옮기는 흉내다 (PG 미연동). "결제 연동은 범위 밖"임을 미리 말해 두면 질문에 대응하기 쉽다.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CDEE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9260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저장 · 데이터 구조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7863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브라우저 localStorage — 백엔드 없이 상태가 이어지는 방식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457200"/>
            <a:ext cx="914400" cy="310896"/>
          </a:xfrm>
          <a:prstGeom prst="rect">
            <a:avLst/>
          </a:prstGeom>
          <a:solidFill>
            <a:srgbClr val="EFEFEF"/>
          </a:solidFill>
          <a:ln w="1270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9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상태 (Context) 4종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2926080" cy="822960"/>
          </a:xfrm>
          <a:prstGeom prst="roundRect">
            <a:avLst>
              <a:gd name="adj" fmla="val 11111"/>
            </a:avLst>
          </a:prstGeom>
          <a:solidFill>
            <a:srgbClr val="EEF0FB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6459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AuthContext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페르소나 로그인 · 게스트 · scope 결정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11880" y="1645920"/>
            <a:ext cx="2926080" cy="822960"/>
          </a:xfrm>
          <a:prstGeom prst="roundRect">
            <a:avLst>
              <a:gd name="adj" fmla="val 11111"/>
            </a:avLst>
          </a:prstGeom>
          <a:solidFill>
            <a:srgbClr val="EAF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49040" y="16459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DiagnosisContext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6문항 → 5축 → 8타입 · 게스트 승계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2926080" cy="822960"/>
          </a:xfrm>
          <a:prstGeom prst="roundRect">
            <a:avLst>
              <a:gd name="adj" fmla="val 11111"/>
            </a:avLst>
          </a:prstGeom>
          <a:solidFill>
            <a:srgbClr val="FCE8F3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60604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ClosetContext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화장대 항목 · 시드 · 추가 경로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11880" y="2606040"/>
            <a:ext cx="2926080" cy="822960"/>
          </a:xfrm>
          <a:prstGeom prst="roundRect">
            <a:avLst>
              <a:gd name="adj" fmla="val 11111"/>
            </a:avLst>
          </a:prstGeom>
          <a:solidFill>
            <a:srgbClr val="E6F6E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49040" y="260604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CartContext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담기 · 수량 · checkout → 주문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040880" y="1280160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localStorage 키 (scope별 분리)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1645920"/>
            <a:ext cx="2468880" cy="310896"/>
          </a:xfrm>
          <a:prstGeom prst="rect">
            <a:avLst/>
          </a:prstGeom>
          <a:solidFill>
            <a:srgbClr val="F3EEE6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swappy:diag:v1:&lt;scope&gt;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9646920" y="1645920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결과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2029968"/>
            <a:ext cx="2468880" cy="310896"/>
          </a:xfrm>
          <a:prstGeom prst="rect">
            <a:avLst/>
          </a:prstGeom>
          <a:solidFill>
            <a:srgbClr val="F3EEE6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swappy:orders:v1:&lt;scope&gt;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9646920" y="202996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 주문 목록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2414016"/>
            <a:ext cx="2468880" cy="310896"/>
          </a:xfrm>
          <a:prstGeom prst="rect">
            <a:avLst/>
          </a:prstGeom>
          <a:solidFill>
            <a:srgbClr val="F3EEE6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swappy:*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9646920" y="241401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외 상태 전부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2834640"/>
            <a:ext cx="459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5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 다시 시연: DevTools → Application → Local Storage에서 swappy:* 삭제 또는 시크릿 창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703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게스트 → 계정 진단 승계 흐름 (스텝 #8)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069080"/>
            <a:ext cx="1874520" cy="868680"/>
          </a:xfrm>
          <a:prstGeom prst="roundRect">
            <a:avLst>
              <a:gd name="adj" fmla="val 10526"/>
            </a:avLst>
          </a:prstGeom>
          <a:solidFill>
            <a:srgbClr val="E9E9E9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4069080"/>
            <a:ext cx="187452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게스트 진단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/onboarding 6문항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478024" y="4389120"/>
            <a:ext cx="320040" cy="219456"/>
          </a:xfrm>
          <a:prstGeom prst="rightArrow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52928" y="4069080"/>
            <a:ext cx="18745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852928" y="4069080"/>
            <a:ext cx="187452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게스트 키 저장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diag:v1:guest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82312" y="4389120"/>
            <a:ext cx="320040" cy="219456"/>
          </a:xfrm>
          <a:prstGeom prst="rightArrow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57216" y="4069080"/>
            <a:ext cx="1874520" cy="868680"/>
          </a:xfrm>
          <a:prstGeom prst="roundRect">
            <a:avLst>
              <a:gd name="adj" fmla="val 10526"/>
            </a:avLst>
          </a:prstGeom>
          <a:solidFill>
            <a:srgbClr val="7E8FD4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157216" y="4069080"/>
            <a:ext cx="187452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로그인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loginAs('donggyun')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086600" y="4389120"/>
            <a:ext cx="320040" cy="219456"/>
          </a:xfrm>
          <a:prstGeom prst="rightArrow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61504" y="4069080"/>
            <a:ext cx="1874520" cy="868680"/>
          </a:xfrm>
          <a:prstGeom prst="roundRect">
            <a:avLst>
              <a:gd name="adj" fmla="val 10526"/>
            </a:avLst>
          </a:prstGeom>
          <a:solidFill>
            <a:srgbClr val="CDEE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61504" y="4069080"/>
            <a:ext cx="187452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승계 · 삭제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guest → persona, 사본 삭제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390888" y="4389120"/>
            <a:ext cx="320040" cy="219456"/>
          </a:xfrm>
          <a:prstGeom prst="rightArrow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765792" y="4069080"/>
            <a:ext cx="1874520" cy="868680"/>
          </a:xfrm>
          <a:prstGeom prst="roundRect">
            <a:avLst>
              <a:gd name="adj" fmla="val 10526"/>
            </a:avLst>
          </a:prstGeom>
          <a:solidFill>
            <a:srgbClr val="CFEFC7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765792" y="4069080"/>
            <a:ext cx="187452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홈 배너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"진단을 가져왔어요"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5166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시드 (선택) — 논문 · DB 확인용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5486400"/>
            <a:ext cx="6035040" cy="685800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scripts/seed_test_users.py --dry-run   # 계획만 출력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scripts/seed_test_users.py             # 적재 (멱등)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6858000" y="5486400"/>
            <a:ext cx="4782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personas.json을 그대로 읽어 프론트와 같은 사람을 DB에 심는다. users · profiles · diagnoses + diagnosis_ranks(1~3순위) 적재, 이메일이 있으면 갱신.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CDEE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9260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· 시연 체크리스트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7863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전에 알고 있어야 할 것과 대응 방법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457200"/>
            <a:ext cx="914400" cy="310896"/>
          </a:xfrm>
          <a:prstGeom prst="rect">
            <a:avLst/>
          </a:prstGeom>
          <a:solidFill>
            <a:srgbClr val="EFEFEF"/>
          </a:solidFill>
          <a:ln w="1270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9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0408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24688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상태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대응 멘트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localStorage 기반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기기 · 브라우저를 옮기면 상태가 따라오지 않는다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브라우저 · 같은 창으로 끝까지 진행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유사도 · 대체품 = 목업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similarities는 선케어 147건만 실적재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"엔진 배치는 Task 3 진행 중"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OCR = 준비된 결과 순환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인식이 아님 (Task 4 미연동)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"시뮬레이션"임을 먼저 밝힌다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= 프론트 대조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백엔드 JWT 인증(Task 12)과 미연결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"인증 API 연동 예정"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= 흉내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checkout()이 주문내역으로 옮길 뿐 (PG 미연동)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범위 밖임을 미리 언급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 다양성 제한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목업 폴백은 mocks/oliveyoung.ts 12종 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백엔드를 띄우면 실제 DB에서 추천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863840" y="1325880"/>
            <a:ext cx="3776472" cy="4937760"/>
          </a:xfrm>
          <a:prstGeom prst="roundRect">
            <a:avLst>
              <a:gd name="adj" fmla="val 2906"/>
            </a:avLst>
          </a:prstGeom>
          <a:solidFill>
            <a:srgbClr val="F7F4E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1463040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체크리스트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092440" y="199339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412480" y="192024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전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189720" y="1920240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npm install → npm run dev (localhost:3000)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92440" y="2523744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412480" y="245059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전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189720" y="2450592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시크릿 창 또는 swappy:* 삭제로 초기화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092440" y="3054096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12480" y="298094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전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189720" y="2980944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퀵버튼 5개 노출 확인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092440" y="3584448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412480" y="351129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 2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9189720" y="3511296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승계를 보일 거면 먼저 게스트로 진단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092440" y="411480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412480" y="404164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 3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9189720" y="4041648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스캔 · 챗봇 두 경로 모두 1회씩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8092440" y="464515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12480" y="457200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 4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9189720" y="4572000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세트에서 보유품이 빠졌는지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8092440" y="5175504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412480" y="510235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 5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189720" y="5102352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주문내역 최상단에 방금 주문이 있는지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8092440" y="5705856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412480" y="563270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막혔을 때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9189720" y="5632704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변경 → 같은 흐름이 재현됨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SWAPPY 사용자 시나리오</dc:title>
  <dc:subject>PptxGenJS Presentation</dc:subject>
  <dc:creator>PptxGenJS</dc:creator>
  <cp:lastModifiedBy>PptxGenJS</cp:lastModifiedBy>
  <cp:revision>1</cp:revision>
  <dcterms:created xsi:type="dcterms:W3CDTF">2026-09-21T11:19:31Z</dcterms:created>
  <dcterms:modified xsi:type="dcterms:W3CDTF">2026-09-21T11:19:31Z</dcterms:modified>
</cp:coreProperties>
</file>